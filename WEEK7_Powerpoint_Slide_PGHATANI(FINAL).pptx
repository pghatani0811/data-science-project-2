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607" r:id="rId1"/>
  </p:sldMasterIdLst>
  <p:notesMasterIdLst>
    <p:notesMasterId r:id="rId15"/>
  </p:notesMasterIdLst>
  <p:sldIdLst>
    <p:sldId id="272" r:id="rId2"/>
    <p:sldId id="257" r:id="rId3"/>
    <p:sldId id="258" r:id="rId4"/>
    <p:sldId id="273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962"/>
    <p:restoredTop sz="94645"/>
  </p:normalViewPr>
  <p:slideViewPr>
    <p:cSldViewPr snapToGrid="0">
      <p:cViewPr varScale="1">
        <p:scale>
          <a:sx n="78" d="100"/>
          <a:sy n="78" d="100"/>
        </p:scale>
        <p:origin x="208" y="9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B03520-F9F3-4A45-8B05-0E67BBAF9FF9}" type="datetimeFigureOut">
              <a:rPr lang="en-US" smtClean="0"/>
              <a:t>8/23/26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757964-C0B3-3C4E-A600-58CDA98C2B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093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757964-C0B3-3C4E-A600-58CDA98C2BEC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714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179867CD-CD09-0EEC-D165-96584688B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296" y="64007"/>
            <a:ext cx="12015216" cy="5120639"/>
          </a:xfrm>
        </p:spPr>
        <p:txBody>
          <a:bodyPr>
            <a:normAutofit/>
          </a:bodyPr>
          <a:lstStyle>
            <a:lvl1pPr>
              <a:defRPr sz="110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65D245-B564-481D-A323-F73C5BCA84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8136" y="5360878"/>
            <a:ext cx="10037064" cy="566928"/>
          </a:xfrm>
        </p:spPr>
        <p:txBody>
          <a:bodyPr anchor="b" anchorCtr="0">
            <a:normAutofit/>
          </a:bodyPr>
          <a:lstStyle>
            <a:lvl1pPr marL="0" indent="0" algn="r">
              <a:lnSpc>
                <a:spcPct val="100000"/>
              </a:lnSpc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1422A5-3076-413B-84CB-ED3BA4171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E072EE-51B3-4C0C-A460-4684AB079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267C68-40D5-477E-9DBC-C28FD4B11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C1F8589-B640-4540-D0AD-2B0461CD3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49927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866143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EE2F5-9D3C-4BE7-9AD5-335B31CF2C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6"/>
            <a:ext cx="10840626" cy="79051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F98C4F-4BF6-47CF-ABEE-2B12748C4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135" y="1880756"/>
            <a:ext cx="10840627" cy="45581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1AB30-CD74-471D-9FA6-ADC0C901E6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39070-70D2-4DD1-A439-155343FE2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A137C4-F19E-4521-8DCB-4E0CF9CA3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144482-F463-E942-01AE-69DF54F417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305603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7847" y="4676177"/>
            <a:ext cx="10835639" cy="1319510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5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87847" y="6065134"/>
            <a:ext cx="10835639" cy="373766"/>
          </a:xfrm>
        </p:spPr>
        <p:txBody>
          <a:bodyPr vert="horz" lIns="91440" tIns="45720" rIns="91440" bIns="45720" rtlCol="0" anchor="b">
            <a:noAutofit/>
          </a:bodyPr>
          <a:lstStyle>
            <a:lvl1pPr marL="0" indent="0">
              <a:spcBef>
                <a:spcPts val="0"/>
              </a:spcBef>
              <a:buNone/>
              <a:defRPr lang="en-US" sz="20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1999" cy="446782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7765164-0D02-5316-1845-119CB0111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5715000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A2081-8ED6-0719-D0B6-2818D601933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51F47A-9B8B-A343-2C56-110E21331A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259CCC4-FA9E-2074-3142-5EBA62F91B2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619005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736010" cy="284556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36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729915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617785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F8C2BF2-38FB-0598-A4BE-DD111229A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438900"/>
            <a:ext cx="171430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18" name="Date Placeholder 4">
            <a:extLst>
              <a:ext uri="{FF2B5EF4-FFF2-40B4-BE49-F238E27FC236}">
                <a16:creationId xmlns:a16="http://schemas.microsoft.com/office/drawing/2014/main" id="{5A41BBAF-5441-8512-B575-2EB961DD48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89401810-4A83-D1CF-00A6-76F622C71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07168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1A7175-8061-E7CC-68E4-2B3CECB6CC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90244"/>
            <a:ext cx="10037064" cy="5159257"/>
          </a:xfrm>
        </p:spPr>
        <p:txBody>
          <a:bodyPr>
            <a:normAutofit/>
          </a:bodyPr>
          <a:lstStyle>
            <a:lvl1pPr>
              <a:defRPr sz="8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094542-CAEF-4D6C-BE6A-BC100F059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08851-4DCC-447C-828A-5F7E66F76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BDE40-8468-4051-9703-B751608AA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6A5A591-C2D3-D6A3-432F-2C137195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5868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0195145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CB916BDA-9E36-8180-7EBC-AC2A35C79FF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90940" y="1088702"/>
            <a:ext cx="8479072" cy="139555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92AF672E-4752-50B9-9301-C8042FD003C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9669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lnSpc>
                <a:spcPct val="100000"/>
              </a:lnSpc>
              <a:buFont typeface="+mj-lt"/>
              <a:buAutoNum type="arabicPeriod"/>
              <a:defRPr sz="2000"/>
            </a:lvl1pPr>
            <a:lvl2pPr marL="685800" indent="-457200">
              <a:lnSpc>
                <a:spcPct val="100000"/>
              </a:lnSpc>
              <a:buFont typeface="+mj-lt"/>
              <a:buAutoNum type="arabicPeriod"/>
              <a:defRPr sz="2000"/>
            </a:lvl2pPr>
            <a:lvl3pPr marL="800100" indent="-342900">
              <a:lnSpc>
                <a:spcPct val="100000"/>
              </a:lnSpc>
              <a:buFont typeface="+mj-lt"/>
              <a:buAutoNum type="arabicPeriod"/>
              <a:defRPr sz="2000"/>
            </a:lvl3pPr>
            <a:lvl4pPr marL="1028700" indent="-342900">
              <a:lnSpc>
                <a:spcPct val="100000"/>
              </a:lnSpc>
              <a:buFont typeface="+mj-lt"/>
              <a:buAutoNum type="arabicPeriod"/>
              <a:defRPr sz="2000"/>
            </a:lvl4pPr>
            <a:lvl5pPr marL="1257300" indent="-342900">
              <a:lnSpc>
                <a:spcPct val="100000"/>
              </a:lnSpc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565070F-FB67-7572-2807-986A25537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3246542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8136" y="1088136"/>
            <a:ext cx="5749392" cy="1554480"/>
          </a:xfrm>
        </p:spPr>
        <p:txBody>
          <a:bodyPr anchor="t" anchorCtr="0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6" y="2651760"/>
            <a:ext cx="5749392" cy="3694176"/>
          </a:xfrm>
        </p:spPr>
        <p:txBody>
          <a:bodyPr>
            <a:normAutofit/>
          </a:bodyPr>
          <a:lstStyle>
            <a:lvl1pPr marL="342900" indent="-342900">
              <a:lnSpc>
                <a:spcPct val="100000"/>
              </a:lnSpc>
              <a:buFont typeface="System Font Regular"/>
              <a:buChar char="-"/>
              <a:defRPr sz="2000"/>
            </a:lvl1pPr>
            <a:lvl2pPr>
              <a:lnSpc>
                <a:spcPct val="100000"/>
              </a:lnSpc>
              <a:defRPr sz="2000"/>
            </a:lvl2pPr>
            <a:lvl3pPr>
              <a:lnSpc>
                <a:spcPct val="100000"/>
              </a:lnSpc>
              <a:defRPr sz="2000"/>
            </a:lvl3pPr>
            <a:lvl4pPr>
              <a:lnSpc>
                <a:spcPct val="100000"/>
              </a:lnSpc>
              <a:defRPr sz="2000"/>
            </a:lvl4pPr>
            <a:lvl5pPr>
              <a:lnSpc>
                <a:spcPct val="100000"/>
              </a:lnSpc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0940" y="6438900"/>
            <a:ext cx="391540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006344" y="6438900"/>
            <a:ext cx="1126120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32464" y="6438900"/>
            <a:ext cx="705064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E4B52E79-E470-1B1A-EADF-94DA7253B32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315200" y="0"/>
            <a:ext cx="48768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4C1AE97-7274-F222-2135-C3524958A8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5663239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7676" y="1114856"/>
            <a:ext cx="3923455" cy="40835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294612" y="1115290"/>
            <a:ext cx="5809713" cy="5171210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54F329-E63B-9F25-4E06-2E98A6453D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3882715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3701" y="1114655"/>
            <a:ext cx="2771326" cy="3675552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34532" y="1129145"/>
            <a:ext cx="7794231" cy="5157355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7547F2C9-46DC-B902-E883-CE0360E6D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837290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85788" y="1111101"/>
            <a:ext cx="6339412" cy="114300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icture Placeholder 10">
            <a:extLst>
              <a:ext uri="{FF2B5EF4-FFF2-40B4-BE49-F238E27FC236}">
                <a16:creationId xmlns:a16="http://schemas.microsoft.com/office/drawing/2014/main" id="{6FB7CB50-241E-E6B6-1C0E-1B5466B1477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45065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A1C94DDD-A7D7-1407-F63C-F296AB45422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785787" y="2402887"/>
            <a:ext cx="6339414" cy="3883614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3871FB-7459-8C2E-BA80-AD31AE855A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04282-04A3-1CE1-50A4-AF83D0D40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85788" y="6438900"/>
            <a:ext cx="477490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CA12AEFE-D7DE-804A-807C-704D5B34E13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9C293909-C7AB-A707-F48B-6007FE725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699191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76991" y="1112104"/>
            <a:ext cx="7321615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5189CF27-6D02-DB0D-F5D1-1535F1479166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0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373ED08-D584-FD0F-C5B0-EF4E07A0D89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76075" y="2187258"/>
            <a:ext cx="7349126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906524-8E7E-05A8-4F9E-A2C39750A3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56971-28FA-FA33-0A85-0B851EA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76076" y="6438900"/>
            <a:ext cx="578461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Date Placeholder 4">
            <a:extLst>
              <a:ext uri="{FF2B5EF4-FFF2-40B4-BE49-F238E27FC236}">
                <a16:creationId xmlns:a16="http://schemas.microsoft.com/office/drawing/2014/main" id="{F04B437D-29C2-D3ED-BEFA-E1F868B0FB5E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70EB108D-6128-5356-6097-7D1D10551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081079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3394" y="1112104"/>
            <a:ext cx="7343564" cy="9326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3393" y="2187258"/>
            <a:ext cx="7343565" cy="4099242"/>
          </a:xfrm>
        </p:spPr>
        <p:txBody>
          <a:bodyPr>
            <a:normAutofit/>
          </a:bodyPr>
          <a:lstStyle>
            <a:lvl1pPr>
              <a:lnSpc>
                <a:spcPct val="100000"/>
              </a:lnSpc>
              <a:defRPr sz="1600"/>
            </a:lvl1pPr>
            <a:lvl2pPr>
              <a:lnSpc>
                <a:spcPct val="100000"/>
              </a:lnSpc>
              <a:defRPr sz="1600"/>
            </a:lvl2pPr>
            <a:lvl3pPr>
              <a:lnSpc>
                <a:spcPct val="100000"/>
              </a:lnSpc>
              <a:defRPr sz="1600"/>
            </a:lvl3pPr>
            <a:lvl4pPr>
              <a:lnSpc>
                <a:spcPct val="100000"/>
              </a:lnSpc>
              <a:defRPr sz="1600"/>
            </a:lvl4pPr>
            <a:lvl5pPr>
              <a:lnSpc>
                <a:spcPct val="10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D039FC6-F740-7D02-FD07-5B1B076DC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666571-786A-B2D2-4FC3-C22E71C243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3394" y="6438900"/>
            <a:ext cx="5779054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324A0C0-9CB0-6208-0780-67E3C7F2C02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962654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F7421E2-5EEC-7791-DBEE-600FF51708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835522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Picture Placeholder 10">
            <a:extLst>
              <a:ext uri="{FF2B5EF4-FFF2-40B4-BE49-F238E27FC236}">
                <a16:creationId xmlns:a16="http://schemas.microsoft.com/office/drawing/2014/main" id="{61964118-5CFA-FFA8-E19F-A107D63DDC0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65559" y="0"/>
            <a:ext cx="352643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928351296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066" y="1115736"/>
            <a:ext cx="4738583" cy="1288169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88192" y="2552124"/>
            <a:ext cx="4738450" cy="3734376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84581EB-7A5A-925D-6E20-5C04A0EAA2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84EA123-AEAB-8F33-C22D-31F9F11A9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88066" y="6438900"/>
            <a:ext cx="317406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A2FCA56-AA13-81B1-1707-7A5D7557B5F8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352338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4358A8E3-C7AA-9216-35FD-FE8205982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5206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0" y="0"/>
            <a:ext cx="60960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425041158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8396" y="1111101"/>
            <a:ext cx="3813845" cy="1493863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98397" y="2700671"/>
            <a:ext cx="3813846" cy="3585830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36A796DD-1556-39E2-B5E4-90C1C2459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713B13-BCC2-B853-769C-4BC6A57D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98395" y="6438900"/>
            <a:ext cx="2249335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Date Placeholder 4">
            <a:extLst>
              <a:ext uri="{FF2B5EF4-FFF2-40B4-BE49-F238E27FC236}">
                <a16:creationId xmlns:a16="http://schemas.microsoft.com/office/drawing/2014/main" id="{A9915D6C-CE56-12D3-C15C-C56B3EFEAFE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3437937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3F576B-887C-7B84-0990-9143EA6C6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310805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92232" y="0"/>
            <a:ext cx="699976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32565061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175ACA1F-D859-596B-9F50-F1E9A2654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7894207" y="1112431"/>
            <a:ext cx="3230993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2A43D9F3-C10E-5B48-BB59-16A8600BD3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2192" y="0"/>
            <a:ext cx="7481777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4" name="Content Placeholder 7">
            <a:extLst>
              <a:ext uri="{FF2B5EF4-FFF2-40B4-BE49-F238E27FC236}">
                <a16:creationId xmlns:a16="http://schemas.microsoft.com/office/drawing/2014/main" id="{2E10F120-2F5B-B2FD-DB40-683E6176C3D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901280" y="3133255"/>
            <a:ext cx="3223920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9A12B08-97E1-66BD-9B69-377E285127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1375613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EACEEC7-E0DC-ABF5-188B-5636A17B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94207" y="6438900"/>
            <a:ext cx="1666482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8" name="Date Placeholder 4">
            <a:extLst>
              <a:ext uri="{FF2B5EF4-FFF2-40B4-BE49-F238E27FC236}">
                <a16:creationId xmlns:a16="http://schemas.microsoft.com/office/drawing/2014/main" id="{D0A24C6D-468E-EAE9-2363-772EA5E51DD0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9650896" y="6438900"/>
            <a:ext cx="864704" cy="419100"/>
          </a:xfrm>
        </p:spPr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C85811-EF51-7552-5F12-17748D2806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23764" y="6438900"/>
            <a:ext cx="601436" cy="419100"/>
          </a:xfrm>
        </p:spPr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242179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324" y="3987802"/>
            <a:ext cx="3044954" cy="2309785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443331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55935" y="3987802"/>
            <a:ext cx="7460029" cy="2309785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lnSpc>
                <a:spcPct val="100000"/>
              </a:lnSpc>
              <a:buNone/>
              <a:defRPr lang="en-US" dirty="0"/>
            </a:lvl1pPr>
            <a:lvl2pPr marL="228600" indent="0">
              <a:lnSpc>
                <a:spcPct val="100000"/>
              </a:lnSpc>
              <a:buNone/>
              <a:defRPr lang="en-US" dirty="0"/>
            </a:lvl2pPr>
            <a:lvl3pPr marL="457200" indent="0">
              <a:lnSpc>
                <a:spcPct val="100000"/>
              </a:lnSpc>
              <a:buNone/>
              <a:defRPr lang="en-US" dirty="0"/>
            </a:lvl3pPr>
            <a:lvl4pPr marL="685800" indent="0">
              <a:lnSpc>
                <a:spcPct val="100000"/>
              </a:lnSpc>
              <a:buNone/>
              <a:defRPr lang="en-US" dirty="0"/>
            </a:lvl4pPr>
            <a:lvl5pPr marL="914400" indent="0">
              <a:lnSpc>
                <a:spcPct val="100000"/>
              </a:lnSpc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C699AE1-DA01-C4DA-C5BE-8DD9BE13F6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41150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73F0BC-3C5E-8E58-AFDC-804E1C1C761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6E5C888-EE74-5D59-47AA-40A53F60011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794CA46-7ABA-FF39-20BD-C83B4F6D957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218166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D85BA164-9326-7934-95DF-A6AAB3F42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0990"/>
            <a:ext cx="10477320" cy="969264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2286008"/>
            <a:ext cx="6096000" cy="4571992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691745" y="2286008"/>
            <a:ext cx="4876515" cy="4000492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B0BF8A-7D94-1C82-F661-F1B7A93A43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88C72B-1D4E-3882-C750-7F965F6E7BC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691744" y="6438900"/>
            <a:ext cx="2959151" cy="419100"/>
          </a:xfr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14FA71-0863-B2C8-8E42-C0A1F133DC6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D6C2E8-E8FC-5DC8-863C-CF7823CD4AE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877970"/>
      </p:ext>
    </p:extLst>
  </p:cSld>
  <p:clrMapOvr>
    <a:masterClrMapping/>
  </p:clrMapOvr>
  <p:hf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243CE06-05E5-2B64-1E1C-8F81B788D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22200"/>
            <a:ext cx="3696859" cy="1505157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9ADE1102-BF4C-FC7C-22F6-B8453DE3B19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181100" y="2840181"/>
            <a:ext cx="3606699" cy="344631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6C8ACD7F-7B34-5741-6323-6829CFDA10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13673" y="1122201"/>
            <a:ext cx="6602291" cy="5164298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1322A97-1C32-A52E-951B-60B114B307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0990987"/>
      </p:ext>
    </p:extLst>
  </p:cSld>
  <p:clrMapOvr>
    <a:masterClrMapping/>
  </p:clrMapOvr>
  <p:hf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99AD5248-C0E5-8356-EB8F-904EDDA5FC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7304" y="4757193"/>
            <a:ext cx="6477896" cy="1126554"/>
          </a:xfrm>
        </p:spPr>
        <p:txBody>
          <a:bodyPr anchor="b">
            <a:normAutofit/>
          </a:bodyPr>
          <a:lstStyle>
            <a:lvl1pPr algn="r">
              <a:defRPr sz="2000" b="0" cap="none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A5F5F1C4-3BA4-0163-6A5F-9D95D58C7EA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" y="64008"/>
            <a:ext cx="12027408" cy="4600592"/>
          </a:xfrm>
        </p:spPr>
        <p:txBody>
          <a:bodyPr>
            <a:noAutofit/>
          </a:bodyPr>
          <a:lstStyle>
            <a:lvl1pPr>
              <a:lnSpc>
                <a:spcPct val="85000"/>
              </a:lnSpc>
              <a:defRPr sz="31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A84DB20-94E7-1E79-B65B-67C6158DB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000"/>
            <a:ext cx="804195" cy="0"/>
          </a:xfrm>
          <a:prstGeom prst="line">
            <a:avLst/>
          </a:prstGeom>
          <a:ln w="1206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598020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286261"/>
            <a:ext cx="10652760" cy="1133856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088136" y="1039095"/>
            <a:ext cx="9418320" cy="5070068"/>
          </a:xfr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buNone/>
              <a:defRPr sz="6000" b="1"/>
            </a:lvl1pPr>
            <a:lvl2pPr marL="228600" indent="0">
              <a:lnSpc>
                <a:spcPct val="90000"/>
              </a:lnSpc>
              <a:buNone/>
              <a:defRPr sz="6000" b="1"/>
            </a:lvl2pPr>
            <a:lvl3pPr marL="457200" indent="0">
              <a:lnSpc>
                <a:spcPct val="90000"/>
              </a:lnSpc>
              <a:buNone/>
              <a:defRPr sz="60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6000" b="1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7F2505C-CAED-34DC-7CD1-C57ADBBF9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920144"/>
      </p:ext>
    </p:extLst>
  </p:cSld>
  <p:clrMapOvr>
    <a:masterClrMapping/>
  </p:clrMapOvr>
  <p:hf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9">
            <a:extLst>
              <a:ext uri="{FF2B5EF4-FFF2-40B4-BE49-F238E27FC236}">
                <a16:creationId xmlns:a16="http://schemas.microsoft.com/office/drawing/2014/main" id="{873E5EF9-EDC5-CB2D-000A-85BB4DB582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66800" y="5418360"/>
            <a:ext cx="10058400" cy="466345"/>
          </a:xfrm>
        </p:spPr>
        <p:txBody>
          <a:bodyPr anchor="b">
            <a:normAutofit/>
          </a:bodyPr>
          <a:lstStyle>
            <a:lvl1pPr algn="r">
              <a:lnSpc>
                <a:spcPct val="100000"/>
              </a:lnSpc>
              <a:defRPr sz="2000" b="0" cap="none" baseline="0"/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5D1FFC6-C597-BE81-1790-A08954F44C4B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95250" y="63500"/>
            <a:ext cx="11977688" cy="5080000"/>
          </a:xfrm>
        </p:spPr>
        <p:txBody>
          <a:bodyPr>
            <a:normAutofit/>
          </a:bodyPr>
          <a:lstStyle>
            <a:lvl1pPr>
              <a:lnSpc>
                <a:spcPct val="85000"/>
              </a:lnSpc>
              <a:defRPr sz="8000" b="1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2949BEA-90AC-BE5F-28A7-80D65BD19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387805" y="5715292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018905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6BF7AE-3892-4896-8C15-7A35A41EF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19132"/>
            <a:ext cx="9890066" cy="120459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D9A26-86F1-4817-B243-4DE63B4F18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82185" y="2440568"/>
            <a:ext cx="4841505" cy="3801284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54BF9B-EA16-48C8-96B9-7A66051BE7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40568"/>
            <a:ext cx="4806002" cy="3801283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29E05-3F6C-40BF-9324-118588B6CA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6E2D9F-1FCE-4A1C-996E-DB05777A8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9BE013-C5C0-4CBD-982E-36F037F73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B20CA7A-449A-6AC2-BFC5-17AF5007E7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019552"/>
      </p:ext>
    </p:extLst>
  </p:cSld>
  <p:clrMapOvr>
    <a:masterClrMapping/>
  </p:clrMapOvr>
  <p:hf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ED885-5FE5-4407-BE4D-FAD01C40A9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0940" y="1115329"/>
            <a:ext cx="9949455" cy="83885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322A77-C134-4857-83E5-51217D3C2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92088" y="1923190"/>
            <a:ext cx="4816475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10AFC6-F407-4F35-BD37-B32F9B4036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15482" y="1923190"/>
            <a:ext cx="4824913" cy="838856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1800" b="1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4ECBFE-C62C-471B-BFE4-1272EAC347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92088" y="2825791"/>
            <a:ext cx="4816475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8D60D5-0F83-46CB-92F3-849FC08E6E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15482" y="2825791"/>
            <a:ext cx="4824913" cy="3363871"/>
          </a:xfrm>
        </p:spPr>
        <p:txBody>
          <a:bodyPr/>
          <a:lstStyle>
            <a:lvl1pPr>
              <a:lnSpc>
                <a:spcPct val="100000"/>
              </a:lnSpc>
              <a:defRPr/>
            </a:lvl1pPr>
            <a:lvl2pPr>
              <a:lnSpc>
                <a:spcPct val="100000"/>
              </a:lnSpc>
              <a:defRPr/>
            </a:lvl2pPr>
            <a:lvl3pPr>
              <a:lnSpc>
                <a:spcPct val="100000"/>
              </a:lnSpc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40A80D-4CCB-4899-9E1D-A5967F4E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5AE694-5CA0-48DA-90D3-EC42BD1D8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753A9D-469A-4ED9-99A1-7E4B115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DA35A86-E7F6-6593-119D-A6DC85581F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904483"/>
      </p:ext>
    </p:extLst>
  </p:cSld>
  <p:clrMapOvr>
    <a:masterClrMapping/>
  </p:clrMapOvr>
  <p:hf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7C91E-0A11-4E5D-9B8D-5316E73A2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104100"/>
            <a:ext cx="9922764" cy="1294228"/>
          </a:xfrm>
        </p:spPr>
        <p:txBody>
          <a:bodyPr>
            <a:normAutofit/>
          </a:bodyPr>
          <a:lstStyle>
            <a:lvl1pPr>
              <a:defRPr sz="3600" cap="none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E36922-9A4C-453D-9B70-0C3A70281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B8A8D1-71AD-4F9F-B393-9EED83FEF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5AAEF2-65DC-4E28-9AA4-5115ACB0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8CF7AFD-0570-B046-A2C2-3EFA873546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6419891"/>
      </p:ext>
    </p:extLst>
  </p:cSld>
  <p:clrMapOvr>
    <a:masterClrMapping/>
  </p:clrMapOvr>
  <p:hf hdr="0" ftr="0" dt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459378-C430-49DB-B2D6-E32FBBCD4A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FF5A02-0FC4-41C8-A13C-4C929B28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B9D57D-CB8E-4E67-AE2D-2790E2AA6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798741"/>
      </p:ext>
    </p:extLst>
  </p:cSld>
  <p:clrMapOvr>
    <a:masterClrMapping/>
  </p:clrMapOvr>
  <p:hf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5"/>
            <a:ext cx="10627828" cy="2084551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419A5DD2-B3B3-D9BF-1A71-B20742D142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088134" y="3276600"/>
            <a:ext cx="10627829" cy="3162300"/>
          </a:xfrm>
        </p:spPr>
        <p:txBody>
          <a:bodyPr/>
          <a:lstStyle>
            <a:lvl1pPr marL="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DCA1022-3377-EB7D-8261-EDD841636B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5059148"/>
      </p:ext>
    </p:extLst>
  </p:cSld>
  <p:clrMapOvr>
    <a:masterClrMapping/>
  </p:clrMapOvr>
  <p:hf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88136"/>
            <a:ext cx="8430767" cy="1842020"/>
          </a:xfrm>
        </p:spPr>
        <p:txBody>
          <a:bodyPr anchor="t" anchorCtr="0">
            <a:noAutofit/>
          </a:bodyPr>
          <a:lstStyle>
            <a:lvl1pPr>
              <a:defRPr sz="60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C06F55DC-E754-4B2B-C0AE-962C82565D0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1077213" y="4246692"/>
            <a:ext cx="8430639" cy="1608008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2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C829929-F774-AF4E-F1BE-2DA3C43D0D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0" y="1206128"/>
            <a:ext cx="804195" cy="0"/>
          </a:xfrm>
          <a:prstGeom prst="line">
            <a:avLst/>
          </a:prstGeom>
          <a:ln w="1206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2242900"/>
      </p:ext>
    </p:extLst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4438DC-3CEE-4170-9B1C-BAC05CD8C3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136" y="1090245"/>
            <a:ext cx="9922764" cy="93598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C19D24-DCBE-47F9-8B85-8A118B02B3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88136" y="2119745"/>
            <a:ext cx="9922764" cy="41667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1D5844-8163-4D82-BEFC-BC2D8D511B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88136" y="6438900"/>
            <a:ext cx="8562760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F5788-BDCE-49E2-80AE-31C739C6A0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650896" y="6438900"/>
            <a:ext cx="864704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900">
                <a:solidFill>
                  <a:schemeClr val="tx1"/>
                </a:solidFill>
              </a:defRPr>
            </a:lvl1pPr>
          </a:lstStyle>
          <a:p>
            <a:fld id="{1FC8A7CA-E34C-D64F-BFAE-3EF1B93C2113}" type="datetime1">
              <a:rPr lang="en-US" smtClean="0"/>
              <a:t>8/23/26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98A50-C435-4220-82C6-C8D62A7C9E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23764" y="6438900"/>
            <a:ext cx="601436" cy="4191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900">
                <a:solidFill>
                  <a:schemeClr val="tx1"/>
                </a:solidFill>
              </a:defRPr>
            </a:lvl1pPr>
          </a:lstStyle>
          <a:p>
            <a:fld id="{ACC63A0F-8C49-3C4C-8193-D5FE7F9709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86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08" r:id="rId1"/>
    <p:sldLayoutId id="2147484609" r:id="rId2"/>
    <p:sldLayoutId id="2147484610" r:id="rId3"/>
    <p:sldLayoutId id="2147484611" r:id="rId4"/>
    <p:sldLayoutId id="2147484612" r:id="rId5"/>
    <p:sldLayoutId id="2147484613" r:id="rId6"/>
    <p:sldLayoutId id="2147484614" r:id="rId7"/>
    <p:sldLayoutId id="2147484615" r:id="rId8"/>
    <p:sldLayoutId id="2147484616" r:id="rId9"/>
    <p:sldLayoutId id="2147484617" r:id="rId10"/>
    <p:sldLayoutId id="2147484618" r:id="rId11"/>
    <p:sldLayoutId id="2147484619" r:id="rId12"/>
    <p:sldLayoutId id="2147484620" r:id="rId13"/>
    <p:sldLayoutId id="2147484621" r:id="rId14"/>
    <p:sldLayoutId id="2147484622" r:id="rId15"/>
    <p:sldLayoutId id="2147484623" r:id="rId16"/>
    <p:sldLayoutId id="2147484624" r:id="rId17"/>
    <p:sldLayoutId id="2147484625" r:id="rId18"/>
    <p:sldLayoutId id="2147484626" r:id="rId19"/>
    <p:sldLayoutId id="2147484627" r:id="rId20"/>
    <p:sldLayoutId id="2147484628" r:id="rId21"/>
    <p:sldLayoutId id="2147484629" r:id="rId22"/>
    <p:sldLayoutId id="2147484630" r:id="rId23"/>
    <p:sldLayoutId id="2147484631" r:id="rId24"/>
    <p:sldLayoutId id="2147484632" r:id="rId25"/>
    <p:sldLayoutId id="2147484633" r:id="rId26"/>
    <p:sldLayoutId id="2147484634" r:id="rId27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600" b="1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30000"/>
        </a:lnSpc>
        <a:spcBef>
          <a:spcPts val="0"/>
        </a:spcBef>
        <a:buFont typeface="Neue Haas Grotesk Text Pro" panose="020B0504020202020204" pitchFamily="34" charset="0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744">
          <p15:clr>
            <a:srgbClr val="F26B43"/>
          </p15:clr>
        </p15:guide>
        <p15:guide id="6">
          <p15:clr>
            <a:srgbClr val="F26B43"/>
          </p15:clr>
        </p15:guide>
        <p15:guide id="8" pos="6936">
          <p15:clr>
            <a:srgbClr val="F26B43"/>
          </p15:clr>
        </p15:guide>
        <p15:guide id="10" orient="horz" pos="720">
          <p15:clr>
            <a:srgbClr val="F26B43"/>
          </p15:clr>
        </p15:guide>
        <p15:guide id="14" pos="6624">
          <p15:clr>
            <a:srgbClr val="F26B43"/>
          </p15:clr>
        </p15:guide>
        <p15:guide id="22" orient="horz" pos="360">
          <p15:clr>
            <a:srgbClr val="F26B43"/>
          </p15:clr>
        </p15:guide>
        <p15:guide id="23" orient="horz" pos="3960">
          <p15:clr>
            <a:srgbClr val="F26B43"/>
          </p15:clr>
        </p15:guide>
        <p15:guide id="24" orient="horz" pos="2160">
          <p15:clr>
            <a:srgbClr val="F26B43"/>
          </p15:clr>
        </p15:guide>
        <p15:guide id="25" pos="7680">
          <p15:clr>
            <a:srgbClr val="F26B43"/>
          </p15:clr>
        </p15:guide>
        <p15:guide id="26" pos="3840">
          <p15:clr>
            <a:srgbClr val="F26B43"/>
          </p15:clr>
        </p15:guide>
        <p15:guide id="27" pos="6168">
          <p15:clr>
            <a:srgbClr val="F26B43"/>
          </p15:clr>
        </p15:guide>
        <p15:guide id="28" pos="672">
          <p15:clr>
            <a:srgbClr val="F26B43"/>
          </p15:clr>
        </p15:guide>
        <p15:guide id="29" pos="7008">
          <p15:clr>
            <a:srgbClr val="F26B43"/>
          </p15:clr>
        </p15:guide>
        <p15:guide id="30" orient="horz" pos="4056">
          <p15:clr>
            <a:srgbClr val="F26B43"/>
          </p15:clr>
        </p15:guide>
        <p15:guide id="31" orient="horz" pos="3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>
            <a:extLst>
              <a:ext uri="{FF2B5EF4-FFF2-40B4-BE49-F238E27FC236}">
                <a16:creationId xmlns:a16="http://schemas.microsoft.com/office/drawing/2014/main" id="{0E498164-CD35-6BF7-EB76-0ADE3E05A758}"/>
              </a:ext>
            </a:extLst>
          </p:cNvPr>
          <p:cNvSpPr/>
          <p:nvPr/>
        </p:nvSpPr>
        <p:spPr>
          <a:xfrm>
            <a:off x="266913" y="5835417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Data Science Project  |  August 2026</a:t>
            </a:r>
            <a:endParaRPr lang="en-US" sz="12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6E85221-B68E-798B-5E47-CAA92E47C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981" y="186794"/>
            <a:ext cx="2584361" cy="83834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3854F-359F-FBBA-8E92-E5BBA343A160}"/>
              </a:ext>
            </a:extLst>
          </p:cNvPr>
          <p:cNvSpPr txBox="1"/>
          <p:nvPr/>
        </p:nvSpPr>
        <p:spPr>
          <a:xfrm>
            <a:off x="266913" y="702809"/>
            <a:ext cx="609814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 kern="0" spc="200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  <a:t>PREDICTIVE ANALYTICS  ·  INSURANCE</a:t>
            </a:r>
            <a:endParaRPr lang="en-US" sz="20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A48C33-EB17-DA9F-6685-DCB231A2EF32}"/>
              </a:ext>
            </a:extLst>
          </p:cNvPr>
          <p:cNvSpPr txBox="1"/>
          <p:nvPr/>
        </p:nvSpPr>
        <p:spPr>
          <a:xfrm>
            <a:off x="266912" y="2188163"/>
            <a:ext cx="11652429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i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Data Science Practicum 2 — Final Presentation, </a:t>
            </a:r>
            <a:r>
              <a:rPr lang="en-US" sz="2200" b="1" dirty="0">
                <a:solidFill>
                  <a:srgbClr val="002060"/>
                </a:solidFill>
                <a:latin typeface="Aptos" panose="020B0004020202020204" pitchFamily="34" charset="0"/>
                <a:cs typeface="Calibri" panose="020F0502020204030204" pitchFamily="34" charset="0"/>
              </a:rPr>
              <a:t>MSDS696_S70_Data Science Practicum II</a:t>
            </a:r>
            <a:endParaRPr lang="en-US" sz="2200" b="1" i="1" dirty="0">
              <a:solidFill>
                <a:srgbClr val="002060"/>
              </a:solidFill>
              <a:latin typeface="Aptos" panose="020B0004020202020204" pitchFamily="34" charset="0"/>
              <a:ea typeface="Calibri" pitchFamily="34" charset="-122"/>
              <a:cs typeface="Calibri" panose="020F0502020204030204" pitchFamily="34" charset="0"/>
            </a:endParaRPr>
          </a:p>
          <a:p>
            <a:pPr algn="l"/>
            <a:endParaRPr lang="en-US" sz="2200" b="1" i="1" dirty="0">
              <a:solidFill>
                <a:srgbClr val="002060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  <a:p>
            <a:pPr algn="l"/>
            <a:r>
              <a:rPr lang="en-US" sz="2200" b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Prakash Ghatani  |  Regis University, Denver, CO  |  </a:t>
            </a:r>
            <a:r>
              <a:rPr lang="en-US" sz="2200" b="1" dirty="0" err="1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anose="020F0502020204030204" pitchFamily="34" charset="0"/>
              </a:rPr>
              <a:t>pghatani@regis.edu</a:t>
            </a:r>
            <a:endParaRPr lang="en-US" sz="2200" b="1" dirty="0">
              <a:solidFill>
                <a:srgbClr val="002060"/>
              </a:solidFill>
              <a:latin typeface="Aptos" panose="020B0004020202020204" pitchFamily="34" charset="0"/>
              <a:cs typeface="Calibri" panose="020F050202020403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4E3A8-B9D4-773B-6E18-0F083DFEA123}"/>
              </a:ext>
            </a:extLst>
          </p:cNvPr>
          <p:cNvSpPr txBox="1"/>
          <p:nvPr/>
        </p:nvSpPr>
        <p:spPr>
          <a:xfrm>
            <a:off x="266913" y="656823"/>
            <a:ext cx="899299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sz="4400" b="1" dirty="0">
                <a:solidFill>
                  <a:srgbClr val="002060"/>
                </a:solidFill>
                <a:latin typeface="Aptos" panose="020B0004020202020204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4400" b="1" dirty="0">
                <a:solidFill>
                  <a:srgbClr val="002060"/>
                </a:solidFill>
                <a:latin typeface="Aptos" panose="020B0004020202020204" pitchFamily="34" charset="0"/>
              </a:rPr>
              <a:t>Predicting insurance claim costs</a:t>
            </a:r>
            <a:endParaRPr lang="en-US" dirty="0"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A7E854-64A9-9356-5D0D-7D3C4F511124}"/>
              </a:ext>
            </a:extLst>
          </p:cNvPr>
          <p:cNvSpPr txBox="1"/>
          <p:nvPr/>
        </p:nvSpPr>
        <p:spPr>
          <a:xfrm>
            <a:off x="266913" y="3845794"/>
            <a:ext cx="145853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u="sng" dirty="0">
                <a:solidFill>
                  <a:srgbClr val="002060"/>
                </a:solidFill>
                <a:latin typeface="Aptos" panose="020B0004020202020204" pitchFamily="34" charset="0"/>
              </a:rPr>
              <a:t>BLUF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03B4BE-C479-7939-C585-170C2A2DA7BF}"/>
              </a:ext>
            </a:extLst>
          </p:cNvPr>
          <p:cNvSpPr txBox="1"/>
          <p:nvPr/>
        </p:nvSpPr>
        <p:spPr>
          <a:xfrm>
            <a:off x="266913" y="4635088"/>
            <a:ext cx="1119099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Insurance executives should use the tuned Gradient Boosting model to rank claims and send the top 5% of scored claims to experienced adjusters for early review before setting reserves.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B00DCE6-600D-B2E1-56B9-104CF4F95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0994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49816" y="629683"/>
            <a:ext cx="761400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lang="en-US"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Project Topic and Business Goal</a:t>
            </a:r>
            <a:endParaRPr sz="4000" u="sng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8072" y="2773525"/>
            <a:ext cx="11091664" cy="3023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Project topic: predict insurance claim costs using machine learning.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Business goal: identify potentially expensive claims earlier and support better reserve planning.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Target variable: loss — the dollar amount of an insurance claim.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sz="2800" dirty="0">
                <a:solidFill>
                  <a:srgbClr val="002060"/>
                </a:solidFill>
                <a:latin typeface="Aptos" panose="020B0004020202020204" pitchFamily="34" charset="0"/>
              </a:rPr>
              <a:t>Decision-support focus: help claims managers prioritize reviews and allocate resources.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72A60F1-8142-0202-53BD-E3B18E1D9405}"/>
              </a:ext>
            </a:extLst>
          </p:cNvPr>
          <p:cNvSpPr txBox="1"/>
          <p:nvPr/>
        </p:nvSpPr>
        <p:spPr>
          <a:xfrm>
            <a:off x="949816" y="1568804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Finding high-cost claims early helps managers </a:t>
            </a: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review them sooner and set better reserves</a:t>
            </a: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.</a:t>
            </a:r>
            <a:endParaRPr lang="en-US" sz="2400" b="1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DFCE89-CC85-DA2C-6FA8-C9E08C2DC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986" y="350864"/>
            <a:ext cx="827739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Kaggle Dataset Loaded into 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849" y="4052067"/>
            <a:ext cx="8976575" cy="13157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Loaded and analyzed with pandas and scikit-learn.</a:t>
            </a: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19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No duplicate rows and no missing values were found in the initial inspection.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6219E3-869F-B026-E907-C6837CE04CEB}"/>
              </a:ext>
            </a:extLst>
          </p:cNvPr>
          <p:cNvSpPr txBox="1"/>
          <p:nvPr/>
        </p:nvSpPr>
        <p:spPr>
          <a:xfrm>
            <a:off x="334849" y="1490188"/>
            <a:ext cx="3766096" cy="30469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Source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Kaggle — Allstate Claims Severity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algn="ctr"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algn="ctr">
              <a:defRPr sz="1600">
                <a:solidFill>
                  <a:srgbClr val="232323"/>
                </a:solidFill>
              </a:defRPr>
            </a:pPr>
            <a:endParaRPr lang="en-US" sz="24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4C812D9-4E72-81F3-940A-7851906B2881}"/>
              </a:ext>
            </a:extLst>
          </p:cNvPr>
          <p:cNvSpPr txBox="1"/>
          <p:nvPr/>
        </p:nvSpPr>
        <p:spPr>
          <a:xfrm>
            <a:off x="8421172" y="1490188"/>
            <a:ext cx="2662464" cy="1701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Features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116 categorical</a:t>
            </a:r>
            <a:b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14 numerical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5E041-7E1F-7318-6E28-9EFDA5231619}"/>
              </a:ext>
            </a:extLst>
          </p:cNvPr>
          <p:cNvSpPr txBox="1"/>
          <p:nvPr/>
        </p:nvSpPr>
        <p:spPr>
          <a:xfrm>
            <a:off x="4305301" y="1490188"/>
            <a:ext cx="2843644" cy="1701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Dataset</a:t>
            </a:r>
          </a:p>
          <a:p>
            <a:pPr>
              <a:lnSpc>
                <a:spcPct val="150000"/>
              </a:lnSpc>
              <a:defRPr sz="16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188,318 rows</a:t>
            </a:r>
            <a:b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132 columns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7D97E-EDA2-64A4-EF02-44CC1E730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080128D-FF79-A202-70C9-4DCE79E350AC}"/>
              </a:ext>
            </a:extLst>
          </p:cNvPr>
          <p:cNvSpPr txBox="1"/>
          <p:nvPr/>
        </p:nvSpPr>
        <p:spPr>
          <a:xfrm>
            <a:off x="309527" y="0"/>
            <a:ext cx="11743928" cy="90992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defRPr sz="2700" b="1">
                <a:solidFill>
                  <a:srgbClr val="163248"/>
                </a:solidFill>
              </a:defRPr>
            </a:pPr>
            <a:r>
              <a:rPr lang="en-US" sz="3200" u="sng" kern="1200" cap="all" baseline="0" dirty="0">
                <a:solidFill>
                  <a:srgbClr val="002060"/>
                </a:solidFill>
                <a:latin typeface="Aptos" panose="020B0004020202020204" pitchFamily="34" charset="0"/>
                <a:ea typeface="+mj-ea"/>
                <a:cs typeface="+mj-cs"/>
              </a:rPr>
              <a:t>Data-Fit Evaluation: Fit, Provenance, Limits, Feasibility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092047A-F7CC-596C-5F68-9400E95039DB}"/>
              </a:ext>
            </a:extLst>
          </p:cNvPr>
          <p:cNvSpPr txBox="1"/>
          <p:nvPr/>
        </p:nvSpPr>
        <p:spPr>
          <a:xfrm>
            <a:off x="469165" y="1048467"/>
            <a:ext cx="10226544" cy="50737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Fit</a:t>
            </a:r>
          </a:p>
          <a:p>
            <a:pPr marL="228600" indent="-22860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Loss is a dollar amount, so regression is used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Provenance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Allstate Claims Severity competition data from Kaggle.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Limits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Anonymized predictors, skewed target, limited claim context</a:t>
            </a:r>
          </a:p>
          <a:p>
            <a:pPr>
              <a:lnSpc>
                <a:spcPct val="120000"/>
              </a:lnSpc>
              <a:spcBef>
                <a:spcPts val="1000"/>
              </a:spcBef>
              <a:defRPr sz="1800" b="1">
                <a:solidFill>
                  <a:srgbClr val="163248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Feasibility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188K+ rows support training, testing, tuning, and visuals.</a:t>
            </a: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endParaRPr lang="en-US" sz="22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 marL="228600" indent="-22860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400">
                <a:solidFill>
                  <a:srgbClr val="232323"/>
                </a:solidFill>
              </a:defRPr>
            </a:pPr>
            <a:endParaRPr lang="en-US" sz="22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3D807B-57BF-C50E-4606-F337B8600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017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6175537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lang="en-US"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Three Dataset 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0981113" cy="3885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Anonymized features such as cat1 and cont1 limit business interpretation.</a:t>
            </a: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Claim loss is strongly right-skewed: most claims are small while a few are very expensive.</a:t>
            </a:r>
          </a:p>
          <a:p>
            <a:pPr marL="342900" indent="-342900">
              <a:spcAft>
                <a:spcPts val="900"/>
              </a:spcAft>
              <a:buFont typeface="Arial" panose="020B0604020202020204" pitchFamily="34" charset="0"/>
              <a:buChar char="•"/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The dataset does not include claim dates, policy details, or external factors.</a:t>
            </a:r>
          </a:p>
          <a:p>
            <a:pPr>
              <a:spcAft>
                <a:spcPts val="900"/>
              </a:spcAft>
              <a:defRPr sz="2000">
                <a:solidFill>
                  <a:srgbClr val="232323"/>
                </a:solidFill>
              </a:defRPr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Therefore, the model should support—not replace—claims professionals.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FD6472-6FE3-2BDE-3487-737D2FB9E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01752"/>
            <a:ext cx="838280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EDA: Most Claims Are Below $5,000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11921" y="2171700"/>
            <a:ext cx="4140558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Most claims (83.59%) cost less than $5,000.</a:t>
            </a:r>
            <a:b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</a:b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Only 23 out of 188,318 claims cost more than $40,000.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300" b="1" dirty="0">
                <a:solidFill>
                  <a:srgbClr val="002060"/>
                </a:solidFill>
                <a:latin typeface="Aptos" panose="020B0004020202020204" pitchFamily="34" charset="0"/>
              </a:rPr>
              <a:t>A few expensive claims can cause a big financial loss</a:t>
            </a:r>
            <a:endParaRPr sz="2300" b="1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F2AB21-6745-327F-33EB-D391E8DB2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521" y="1606796"/>
            <a:ext cx="7772400" cy="38013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075563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3200" u="sng" dirty="0">
                <a:solidFill>
                  <a:srgbClr val="002060"/>
                </a:solidFill>
                <a:latin typeface="Aptos" panose="020B0004020202020204" pitchFamily="34" charset="0"/>
              </a:rPr>
              <a:t>Business Insight: Prioritize Rare High-Cost Claims Earlier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 dirty="0">
                <a:solidFill>
                  <a:srgbClr val="002060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4FF24E-C087-06C5-D953-51FC51970DEE}"/>
              </a:ext>
            </a:extLst>
          </p:cNvPr>
          <p:cNvSpPr txBox="1"/>
          <p:nvPr/>
        </p:nvSpPr>
        <p:spPr>
          <a:xfrm>
            <a:off x="914399" y="1240304"/>
            <a:ext cx="1043559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Business Insight</a:t>
            </a:r>
          </a:p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Claims managers should pilot early review of the top 5% of model-ranked claims.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2C874F1-10DE-50A5-47BF-9697D5502842}"/>
              </a:ext>
            </a:extLst>
          </p:cNvPr>
          <p:cNvSpPr txBox="1"/>
          <p:nvPr/>
        </p:nvSpPr>
        <p:spPr>
          <a:xfrm>
            <a:off x="914398" y="3310545"/>
            <a:ext cx="10755637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Use model scores to </a:t>
            </a: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rank claims early</a:t>
            </a:r>
            <a:endParaRPr lang="en-US" sz="28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lnSpc>
                <a:spcPct val="100000"/>
              </a:lnSpc>
            </a:pP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Send the </a:t>
            </a:r>
            <a:r>
              <a:rPr lang="en-US" sz="2800" b="1" dirty="0">
                <a:solidFill>
                  <a:srgbClr val="002060"/>
                </a:solidFill>
                <a:latin typeface="Aptos" panose="020B0004020202020204" pitchFamily="34" charset="0"/>
              </a:rPr>
              <a:t>top 5% of claims</a:t>
            </a:r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 for early review.</a:t>
            </a:r>
          </a:p>
          <a:p>
            <a:r>
              <a:rPr lang="en-US" sz="2800" dirty="0">
                <a:solidFill>
                  <a:srgbClr val="002060"/>
                </a:solidFill>
                <a:latin typeface="Aptos" panose="020B0004020202020204" pitchFamily="34" charset="0"/>
              </a:rPr>
              <a:t>In the held-out test set, the top 5% captured all 6 claims above $40,000. Continue validating this result before full use.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11091178" cy="5232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 u="sng" dirty="0">
                <a:solidFill>
                  <a:srgbClr val="002060"/>
                </a:solidFill>
                <a:latin typeface="Aptos" panose="020B0004020202020204" pitchFamily="34" charset="0"/>
              </a:rPr>
              <a:t>Random Forest Led Initially; Tuned Gradient Boosting Finished Best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5262" y="1614489"/>
            <a:ext cx="4224337" cy="4224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Linear Regression: RMSE $2,016.61; R² 0.5016.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Random Forest: RMSE $1,903.31; R² 0.5560.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Gradient Boosting: RMSE $1,945.67; R² 0.5361.</a:t>
            </a:r>
          </a:p>
          <a:p>
            <a:r>
              <a:rPr sz="2000" b="1" dirty="0">
                <a:solidFill>
                  <a:srgbClr val="002060"/>
                </a:solidFill>
                <a:latin typeface="Aptos" panose="020B0004020202020204" pitchFamily="34" charset="0"/>
              </a:rPr>
              <a:t>• </a:t>
            </a:r>
            <a:r>
              <a:rPr lang="en-US" sz="2000" b="1" dirty="0">
                <a:solidFill>
                  <a:srgbClr val="002060"/>
                </a:solidFill>
                <a:latin typeface="Aptos" panose="020B0004020202020204" pitchFamily="34" charset="0"/>
              </a:rPr>
              <a:t>Random Forest performed best at first, then Gradient Boosting was tuned.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lang="en-US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lang="en-US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endParaRPr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DFEA97-EAE6-4778-D9D3-8639B601C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307847"/>
            <a:ext cx="7772400" cy="4237211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992906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u="sng" dirty="0">
                <a:solidFill>
                  <a:srgbClr val="002060"/>
                </a:solidFill>
                <a:latin typeface="Aptos" panose="020B0004020202020204" pitchFamily="34" charset="0"/>
              </a:rPr>
              <a:t>Tuned Gradient Boosting Improved Overall Error, but Extreme Claims Remain Harder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67300" y="6419088"/>
            <a:ext cx="245580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154680"/>
            <a:ext cx="672084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Tuned Gradient Boosting achieved the lowest final RMSE among the evaluated models.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High-cost tail errors remain visible, so exact pricing of extreme claims is still difficult.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The top 5% captured all 6 claims above $40,000 in the held-out test set. Because there were only 6, further validation is needed</a:t>
            </a:r>
            <a:endParaRPr sz="2400" dirty="0">
              <a:solidFill>
                <a:srgbClr val="002060"/>
              </a:solidFill>
              <a:latin typeface="Aptos" panose="020B00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EA3EC1-2212-F3A1-8D17-3B0C4EEF87E7}"/>
              </a:ext>
            </a:extLst>
          </p:cNvPr>
          <p:cNvSpPr txBox="1"/>
          <p:nvPr/>
        </p:nvSpPr>
        <p:spPr>
          <a:xfrm>
            <a:off x="856210" y="1228865"/>
            <a:ext cx="17761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RMSE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$1,884.82</a:t>
            </a:r>
            <a:endParaRPr 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AFF58D-3759-A7A2-DAF0-532C4EE81661}"/>
              </a:ext>
            </a:extLst>
          </p:cNvPr>
          <p:cNvSpPr txBox="1"/>
          <p:nvPr/>
        </p:nvSpPr>
        <p:spPr>
          <a:xfrm>
            <a:off x="2844508" y="1228864"/>
            <a:ext cx="181061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MAE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$1,218.61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FAF32F-0351-FCD7-1C11-BA82E3FA9D09}"/>
              </a:ext>
            </a:extLst>
          </p:cNvPr>
          <p:cNvSpPr txBox="1"/>
          <p:nvPr/>
        </p:nvSpPr>
        <p:spPr>
          <a:xfrm>
            <a:off x="4655127" y="1228863"/>
            <a:ext cx="215749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163248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R²</a:t>
            </a:r>
          </a:p>
          <a:p>
            <a:pPr algn="ctr">
              <a:defRPr sz="1900">
                <a:solidFill>
                  <a:srgbClr val="232323"/>
                </a:solidFill>
              </a:defRPr>
            </a:pPr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0.5646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0D844B-8E1C-9627-598F-AB4AD714F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0" y="730696"/>
            <a:ext cx="4919261" cy="484796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5874878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Visualization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9974" y="6419088"/>
            <a:ext cx="3129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1417320"/>
            <a:ext cx="3528186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Claim-cost distribution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Claims by cost range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Final model RMSE comparison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Actual vs. predicted claim costs</a:t>
            </a:r>
          </a:p>
          <a:p>
            <a:pPr>
              <a:spcAft>
                <a:spcPts val="900"/>
              </a:spcAft>
              <a:defRPr sz="1700">
                <a:solidFill>
                  <a:srgbClr val="232323"/>
                </a:solidFill>
              </a:defRPr>
            </a:pPr>
            <a:r>
              <a:rPr sz="2000" dirty="0">
                <a:solidFill>
                  <a:srgbClr val="002060"/>
                </a:solidFill>
                <a:latin typeface="Aptos" panose="020B0004020202020204" pitchFamily="34" charset="0"/>
              </a:rPr>
              <a:t>• Dashboard connects technical results to business decisions.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09E872-2B46-9E8D-38A7-321A92292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478" y="1034758"/>
            <a:ext cx="8101281" cy="561516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9373463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Final Recommendation and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99974" y="6419088"/>
            <a:ext cx="312906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46120"/>
            <a:ext cx="1038557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In the held-out test set, the top 5% captured all 6 claims above $40,000. Continue validating the threshold on additional data before full deployment.</a:t>
            </a:r>
            <a:endParaRPr lang="en-US" sz="3200" dirty="0">
              <a:solidFill>
                <a:srgbClr val="002060"/>
              </a:solidFill>
              <a:latin typeface="Aptos" panose="020B0004020202020204" pitchFamily="34" charset="0"/>
            </a:endParaRP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Final test performance: RMSE $1,884.82, MAE $1,218.61, and R² 0.5646.</a:t>
            </a:r>
          </a:p>
          <a:p>
            <a:r>
              <a:rPr lang="en-US" sz="2400" dirty="0">
                <a:solidFill>
                  <a:srgbClr val="002060"/>
                </a:solidFill>
                <a:latin typeface="Aptos"/>
              </a:rPr>
              <a:t>• Limit: High-cost claims are harder to predict, so use the model to prioritize claims, not automatically set reserves.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EB5A4-588B-FB32-FF8B-75B60A6B39C3}"/>
              </a:ext>
            </a:extLst>
          </p:cNvPr>
          <p:cNvSpPr txBox="1"/>
          <p:nvPr/>
        </p:nvSpPr>
        <p:spPr>
          <a:xfrm>
            <a:off x="914398" y="1186382"/>
            <a:ext cx="1015538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u="sng" dirty="0">
                <a:solidFill>
                  <a:srgbClr val="002060"/>
                </a:solidFill>
                <a:latin typeface="Aptos"/>
              </a:rPr>
              <a:t>Recommendation</a:t>
            </a:r>
          </a:p>
          <a:p>
            <a:r>
              <a:rPr lang="en-US" sz="2400" dirty="0">
                <a:solidFill>
                  <a:srgbClr val="002060"/>
                </a:solidFill>
                <a:latin typeface="Aptos" panose="020B0004020202020204" pitchFamily="34" charset="0"/>
              </a:rPr>
              <a:t>Insurance executives should test the tuned Gradient Boosting model and send the top 5% of scored claims to experienced adjusters for early review before setting reserves.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274320"/>
            <a:ext cx="7960064" cy="70788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63248"/>
                </a:solidFill>
              </a:defRPr>
            </a:pPr>
            <a:r>
              <a:rPr sz="4000" u="sng" dirty="0">
                <a:solidFill>
                  <a:srgbClr val="002060"/>
                </a:solidFill>
                <a:latin typeface="Aptos" panose="020B0004020202020204" pitchFamily="34" charset="0"/>
              </a:rPr>
              <a:t>References / Project Deliverables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06386" y="6419088"/>
            <a:ext cx="306494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5C5C5C"/>
                </a:solidFill>
              </a:defRPr>
            </a:pPr>
            <a:r>
              <a:rPr>
                <a:solidFill>
                  <a:srgbClr val="002060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325880"/>
            <a:ext cx="11140440" cy="35086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Kaggle — Allstate Claims Severity training dataset.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Python: pandas, NumPy, Matplotlib, and scikit-learn.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Completed deliverables: data-fit evaluation, data cleaning, EDA, business insight, analysis plan, regression models, model tuning, final evaluation, dashboard, final report, and presentation.</a:t>
            </a:r>
          </a:p>
          <a:p>
            <a:pPr>
              <a:spcAft>
                <a:spcPts val="900"/>
              </a:spcAft>
              <a:defRPr sz="1800">
                <a:solidFill>
                  <a:srgbClr val="232323"/>
                </a:solidFill>
              </a:defRPr>
            </a:pPr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Technical notebook: Allstate Claims Complete Project.</a:t>
            </a:r>
          </a:p>
          <a:p>
            <a:r>
              <a:rPr sz="2400" dirty="0">
                <a:solidFill>
                  <a:srgbClr val="002060"/>
                </a:solidFill>
                <a:latin typeface="Aptos" panose="020B0004020202020204" pitchFamily="34" charset="0"/>
              </a:rPr>
              <a:t>• Detailed cleaning, preprocessing, tuning, and model-selection steps are documented in the technical notebook/repository.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881633-368C-C058-4B86-A6BDDEB88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C63A0F-8C49-3C4C-8193-D5FE7F9709B0}" type="slidenum">
              <a:rPr lang="en-US" smtClean="0"/>
              <a:t>13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BDBD16-B888-30DD-D5DF-CA697A0EE6F4}"/>
              </a:ext>
            </a:extLst>
          </p:cNvPr>
          <p:cNvSpPr txBox="1"/>
          <p:nvPr/>
        </p:nvSpPr>
        <p:spPr>
          <a:xfrm>
            <a:off x="2362200" y="2874674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5400" b="1" dirty="0">
                <a:solidFill>
                  <a:srgbClr val="002060"/>
                </a:solidFill>
                <a:latin typeface="Aptos" panose="020B0004020202020204" pitchFamily="34" charset="0"/>
              </a:rPr>
              <a:t>Thank you !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16516E-5499-C2AC-5CFC-AB36F5D9FDE9}"/>
              </a:ext>
            </a:extLst>
          </p:cNvPr>
          <p:cNvSpPr txBox="1"/>
          <p:nvPr/>
        </p:nvSpPr>
        <p:spPr>
          <a:xfrm>
            <a:off x="371474" y="994409"/>
            <a:ext cx="1197768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002060"/>
                </a:solidFill>
                <a:latin typeface="Aptos" panose="020B0004020202020204" pitchFamily="34" charset="0"/>
              </a:rPr>
              <a:t>Most important numbers to remember for Q&amp;A: 188,318 claims → 83.59% below $5,000 → only 23 above $40,000 → final RMSE $1,884.82 → MAE $1,218.61 → R² 0.5646 → The top 5% is a pilot threshold supported by the held-out test result, but it requires further validation.</a:t>
            </a:r>
          </a:p>
        </p:txBody>
      </p:sp>
    </p:spTree>
    <p:extLst>
      <p:ext uri="{BB962C8B-B14F-4D97-AF65-F5344CB8AC3E}">
        <p14:creationId xmlns:p14="http://schemas.microsoft.com/office/powerpoint/2010/main" val="1968329821"/>
      </p:ext>
    </p:extLst>
  </p:cSld>
  <p:clrMapOvr>
    <a:masterClrMapping/>
  </p:clrMapOvr>
</p:sld>
</file>

<file path=ppt/theme/theme1.xml><?xml version="1.0" encoding="utf-8"?>
<a:theme xmlns:a="http://schemas.openxmlformats.org/drawingml/2006/main" name="Bjorn">
  <a:themeElements>
    <a:clrScheme name="Bjorn">
      <a:dk1>
        <a:srgbClr val="000000"/>
      </a:dk1>
      <a:lt1>
        <a:srgbClr val="FFFFFF"/>
      </a:lt1>
      <a:dk2>
        <a:srgbClr val="003474"/>
      </a:dk2>
      <a:lt2>
        <a:srgbClr val="EFE6EB"/>
      </a:lt2>
      <a:accent1>
        <a:srgbClr val="28AE70"/>
      </a:accent1>
      <a:accent2>
        <a:srgbClr val="AC9E0C"/>
      </a:accent2>
      <a:accent3>
        <a:srgbClr val="EF3475"/>
      </a:accent3>
      <a:accent4>
        <a:srgbClr val="8961F3"/>
      </a:accent4>
      <a:accent5>
        <a:srgbClr val="11ADD3"/>
      </a:accent5>
      <a:accent6>
        <a:srgbClr val="E78813"/>
      </a:accent6>
      <a:hlink>
        <a:srgbClr val="CD45C3"/>
      </a:hlink>
      <a:folHlink>
        <a:srgbClr val="E34E4E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jorn" id="{121AC9A9-9DF1-410F-980B-228D05632962}" vid="{661A2AC3-DE07-4883-A618-4B52B678F5E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Bjorn</Template>
  <TotalTime>5997</TotalTime>
  <Words>852</Words>
  <Application>Microsoft Macintosh PowerPoint</Application>
  <PresentationFormat>Widescreen</PresentationFormat>
  <Paragraphs>97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Neue Haas Grotesk Text Pro</vt:lpstr>
      <vt:lpstr>System Font Regular</vt:lpstr>
      <vt:lpstr>Bjorn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Ghatani, Prakash</dc:creator>
  <cp:lastModifiedBy>Ghatani, Prakash</cp:lastModifiedBy>
  <cp:revision>19</cp:revision>
  <dcterms:created xsi:type="dcterms:W3CDTF">2026-08-15T13:43:31Z</dcterms:created>
  <dcterms:modified xsi:type="dcterms:W3CDTF">2026-08-23T22:24:45Z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6de1d5b-8b4b-4e4e-a8a1-d2976158103f_Enabled">
    <vt:lpwstr>true</vt:lpwstr>
  </property>
  <property fmtid="{D5CDD505-2E9C-101B-9397-08002B2CF9AE}" pid="3" name="MSIP_Label_a6de1d5b-8b4b-4e4e-a8a1-d2976158103f_SetDate">
    <vt:lpwstr>2026-08-15T13:50:59Z</vt:lpwstr>
  </property>
  <property fmtid="{D5CDD505-2E9C-101B-9397-08002B2CF9AE}" pid="4" name="MSIP_Label_a6de1d5b-8b4b-4e4e-a8a1-d2976158103f_Method">
    <vt:lpwstr>Standard</vt:lpwstr>
  </property>
  <property fmtid="{D5CDD505-2E9C-101B-9397-08002B2CF9AE}" pid="5" name="MSIP_Label_a6de1d5b-8b4b-4e4e-a8a1-d2976158103f_Name">
    <vt:lpwstr>defa4170-0d19-0005-0004-bc88714345d2</vt:lpwstr>
  </property>
  <property fmtid="{D5CDD505-2E9C-101B-9397-08002B2CF9AE}" pid="6" name="MSIP_Label_a6de1d5b-8b4b-4e4e-a8a1-d2976158103f_SiteId">
    <vt:lpwstr>ecd4c5d9-c2fe-4522-afd1-f0d20755d9d7</vt:lpwstr>
  </property>
  <property fmtid="{D5CDD505-2E9C-101B-9397-08002B2CF9AE}" pid="7" name="MSIP_Label_a6de1d5b-8b4b-4e4e-a8a1-d2976158103f_ActionId">
    <vt:lpwstr>e72de663-a707-4933-9c50-bd4c3f04c2ac</vt:lpwstr>
  </property>
  <property fmtid="{D5CDD505-2E9C-101B-9397-08002B2CF9AE}" pid="8" name="MSIP_Label_a6de1d5b-8b4b-4e4e-a8a1-d2976158103f_ContentBits">
    <vt:lpwstr>0</vt:lpwstr>
  </property>
  <property fmtid="{D5CDD505-2E9C-101B-9397-08002B2CF9AE}" pid="9" name="MSIP_Label_a6de1d5b-8b4b-4e4e-a8a1-d2976158103f_Tag">
    <vt:lpwstr>50, 3, 0, 1</vt:lpwstr>
  </property>
</Properties>
</file>