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607" r:id="rId1"/>
  </p:sldMasterIdLst>
  <p:notesMasterIdLst>
    <p:notesMasterId r:id="rId15"/>
  </p:notesMasterIdLst>
  <p:sldIdLst>
    <p:sldId id="272" r:id="rId2"/>
    <p:sldId id="257" r:id="rId3"/>
    <p:sldId id="258" r:id="rId4"/>
    <p:sldId id="273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74"/>
    <p:restoredTop sz="94653"/>
  </p:normalViewPr>
  <p:slideViewPr>
    <p:cSldViewPr snapToGrid="0">
      <p:cViewPr varScale="1">
        <p:scale>
          <a:sx n="89" d="100"/>
          <a:sy n="89" d="100"/>
        </p:scale>
        <p:origin x="17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03520-F9F3-4A45-8B05-0E67BBAF9FF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757964-C0B3-3C4E-A600-58CDA98C2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9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66143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0560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61900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0716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19514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24654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66323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88271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3729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9919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8107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2835129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5041158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32565061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4217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1816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77970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990987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59802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920144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1890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7019552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904483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41989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98741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059148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24290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1FC8A7CA-E34C-D64F-BFAE-3EF1B93C2113}" type="datetime1">
              <a:rPr lang="en-US" smtClean="0"/>
              <a:t>8/20/26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ACC63A0F-8C49-3C4C-8193-D5FE7F97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6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8" r:id="rId1"/>
    <p:sldLayoutId id="2147484609" r:id="rId2"/>
    <p:sldLayoutId id="2147484610" r:id="rId3"/>
    <p:sldLayoutId id="2147484611" r:id="rId4"/>
    <p:sldLayoutId id="2147484612" r:id="rId5"/>
    <p:sldLayoutId id="2147484613" r:id="rId6"/>
    <p:sldLayoutId id="2147484614" r:id="rId7"/>
    <p:sldLayoutId id="2147484615" r:id="rId8"/>
    <p:sldLayoutId id="2147484616" r:id="rId9"/>
    <p:sldLayoutId id="2147484617" r:id="rId10"/>
    <p:sldLayoutId id="2147484618" r:id="rId11"/>
    <p:sldLayoutId id="2147484619" r:id="rId12"/>
    <p:sldLayoutId id="2147484620" r:id="rId13"/>
    <p:sldLayoutId id="2147484621" r:id="rId14"/>
    <p:sldLayoutId id="2147484622" r:id="rId15"/>
    <p:sldLayoutId id="2147484623" r:id="rId16"/>
    <p:sldLayoutId id="2147484624" r:id="rId17"/>
    <p:sldLayoutId id="2147484625" r:id="rId18"/>
    <p:sldLayoutId id="2147484626" r:id="rId19"/>
    <p:sldLayoutId id="2147484627" r:id="rId20"/>
    <p:sldLayoutId id="2147484628" r:id="rId21"/>
    <p:sldLayoutId id="2147484629" r:id="rId22"/>
    <p:sldLayoutId id="2147484630" r:id="rId23"/>
    <p:sldLayoutId id="2147484631" r:id="rId24"/>
    <p:sldLayoutId id="2147484632" r:id="rId25"/>
    <p:sldLayoutId id="2147484633" r:id="rId26"/>
    <p:sldLayoutId id="2147484634" r:id="rId27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>
            <a:extLst>
              <a:ext uri="{FF2B5EF4-FFF2-40B4-BE49-F238E27FC236}">
                <a16:creationId xmlns:a16="http://schemas.microsoft.com/office/drawing/2014/main" id="{0E498164-CD35-6BF7-EB76-0ADE3E05A758}"/>
              </a:ext>
            </a:extLst>
          </p:cNvPr>
          <p:cNvSpPr/>
          <p:nvPr/>
        </p:nvSpPr>
        <p:spPr>
          <a:xfrm>
            <a:off x="266913" y="583541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20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Data Science Project  |  August 2026</a:t>
            </a:r>
            <a:endParaRPr lang="en-US" sz="1200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E85221-B68E-798B-5E47-CAA92E47C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981" y="186794"/>
            <a:ext cx="2584361" cy="8383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83854F-359F-FBBA-8E92-E5BBA343A160}"/>
              </a:ext>
            </a:extLst>
          </p:cNvPr>
          <p:cNvSpPr txBox="1"/>
          <p:nvPr/>
        </p:nvSpPr>
        <p:spPr>
          <a:xfrm>
            <a:off x="266913" y="702809"/>
            <a:ext cx="60981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kern="0" spc="200" dirty="0">
                <a:solidFill>
                  <a:srgbClr val="0020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PREDICTIVE ANALYTICS  ·  INSURANCE</a:t>
            </a:r>
            <a:endParaRPr lang="en-US" sz="2000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48C33-EB17-DA9F-6685-DCB231A2EF32}"/>
              </a:ext>
            </a:extLst>
          </p:cNvPr>
          <p:cNvSpPr txBox="1"/>
          <p:nvPr/>
        </p:nvSpPr>
        <p:spPr>
          <a:xfrm>
            <a:off x="266913" y="2188163"/>
            <a:ext cx="112983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002060"/>
                </a:solidFill>
                <a:latin typeface="Aptos" panose="020B0004020202020204" pitchFamily="34" charset="0"/>
                <a:ea typeface="Calibri" pitchFamily="34" charset="-122"/>
                <a:cs typeface="Calibri" panose="020F0502020204030204" pitchFamily="34" charset="0"/>
              </a:rPr>
              <a:t>Data Science Practicum 2 — Proposal, 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MSDS696_S70_Data Science Practicum II</a:t>
            </a:r>
            <a:endParaRPr lang="en-US" sz="2400" b="1" i="1" dirty="0">
              <a:solidFill>
                <a:srgbClr val="002060"/>
              </a:solidFill>
              <a:latin typeface="Aptos" panose="020B0004020202020204" pitchFamily="34" charset="0"/>
              <a:ea typeface="Calibri" pitchFamily="34" charset="-122"/>
              <a:cs typeface="Calibri" panose="020F0502020204030204" pitchFamily="34" charset="0"/>
            </a:endParaRPr>
          </a:p>
          <a:p>
            <a:pPr algn="l"/>
            <a:endParaRPr lang="en-US" sz="2400" b="1" i="1" dirty="0">
              <a:solidFill>
                <a:srgbClr val="002060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400" b="1" dirty="0">
                <a:solidFill>
                  <a:srgbClr val="002060"/>
                </a:solidFill>
                <a:latin typeface="Aptos" panose="020B0004020202020204" pitchFamily="34" charset="0"/>
                <a:ea typeface="Calibri" pitchFamily="34" charset="-122"/>
                <a:cs typeface="Calibri" panose="020F0502020204030204" pitchFamily="34" charset="0"/>
              </a:rPr>
              <a:t>Prakash Ghatani  |  Regis University, Denver, CO  |  </a:t>
            </a:r>
            <a:r>
              <a:rPr lang="en-US" sz="2400" b="1" dirty="0" err="1">
                <a:solidFill>
                  <a:srgbClr val="002060"/>
                </a:solidFill>
                <a:latin typeface="Aptos" panose="020B0004020202020204" pitchFamily="34" charset="0"/>
                <a:ea typeface="Calibri" pitchFamily="34" charset="-122"/>
                <a:cs typeface="Calibri" panose="020F0502020204030204" pitchFamily="34" charset="0"/>
              </a:rPr>
              <a:t>pghatani@regis.edu</a:t>
            </a:r>
            <a:endParaRPr lang="en-US" sz="2400" b="1" dirty="0">
              <a:solidFill>
                <a:srgbClr val="002060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4E3A8-B9D4-773B-6E18-0F083DFEA123}"/>
              </a:ext>
            </a:extLst>
          </p:cNvPr>
          <p:cNvSpPr txBox="1"/>
          <p:nvPr/>
        </p:nvSpPr>
        <p:spPr>
          <a:xfrm>
            <a:off x="266913" y="656823"/>
            <a:ext cx="899299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4400" b="1" dirty="0">
                <a:solidFill>
                  <a:srgbClr val="00206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4400" b="1" dirty="0">
                <a:solidFill>
                  <a:srgbClr val="002060"/>
                </a:solidFill>
                <a:latin typeface="Aptos" panose="020B0004020202020204" pitchFamily="34" charset="0"/>
              </a:rPr>
              <a:t>Predicting insurance claim costs.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A7E854-64A9-9356-5D0D-7D3C4F511124}"/>
              </a:ext>
            </a:extLst>
          </p:cNvPr>
          <p:cNvSpPr txBox="1"/>
          <p:nvPr/>
        </p:nvSpPr>
        <p:spPr>
          <a:xfrm>
            <a:off x="266913" y="3845794"/>
            <a:ext cx="14585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rgbClr val="002060"/>
                </a:solidFill>
                <a:latin typeface="Aptos" panose="020B0004020202020204" pitchFamily="34" charset="0"/>
              </a:rPr>
              <a:t>BLUF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03B4BE-C479-7939-C585-170C2A2DA7BF}"/>
              </a:ext>
            </a:extLst>
          </p:cNvPr>
          <p:cNvSpPr txBox="1"/>
          <p:nvPr/>
        </p:nvSpPr>
        <p:spPr>
          <a:xfrm>
            <a:off x="266913" y="4635088"/>
            <a:ext cx="111909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Insurance executives should use the 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 pitchFamily="34" charset="0"/>
              </a:rPr>
              <a:t>Gradient Boosting model</a:t>
            </a: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 to identify the 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 pitchFamily="34" charset="0"/>
              </a:rPr>
              <a:t>top 5% of high-cost claims</a:t>
            </a: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 and send them to 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 pitchFamily="34" charset="0"/>
              </a:rPr>
              <a:t>experienced adjusters for early review before setting reserves</a:t>
            </a: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00DCE6-600D-B2E1-56B9-104CF4F95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94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9816" y="629683"/>
            <a:ext cx="761400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248"/>
                </a:solidFill>
              </a:defRPr>
            </a:pPr>
            <a:r>
              <a:rPr lang="en-US" sz="4000" u="sng" dirty="0">
                <a:solidFill>
                  <a:srgbClr val="002060"/>
                </a:solidFill>
                <a:latin typeface="Aptos" panose="020B0004020202020204" pitchFamily="34" charset="0"/>
              </a:rPr>
              <a:t>Project Topic and Business Goal</a:t>
            </a:r>
            <a:endParaRPr sz="4000" u="sng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8072" y="2773525"/>
            <a:ext cx="11091664" cy="302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002060"/>
                </a:solidFill>
                <a:latin typeface="Aptos" panose="020B0004020202020204" pitchFamily="34" charset="0"/>
              </a:rPr>
              <a:t>Project topic: predict insurance claim costs using machine learning.</a:t>
            </a:r>
            <a:endParaRPr lang="en-US" sz="28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002060"/>
                </a:solidFill>
                <a:latin typeface="Aptos" panose="020B0004020202020204" pitchFamily="34" charset="0"/>
              </a:rPr>
              <a:t>Business goal: identify potentially expensive claims earlier and support better reserve planning.</a:t>
            </a:r>
            <a:endParaRPr lang="en-US" sz="28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002060"/>
                </a:solidFill>
                <a:latin typeface="Aptos" panose="020B0004020202020204" pitchFamily="34" charset="0"/>
              </a:rPr>
              <a:t>Target variable: loss — the dollar amount of an insurance claim.</a:t>
            </a:r>
            <a:endParaRPr lang="en-US" sz="28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sz="2800" dirty="0">
                <a:solidFill>
                  <a:srgbClr val="002060"/>
                </a:solidFill>
                <a:latin typeface="Aptos" panose="020B0004020202020204" pitchFamily="34" charset="0"/>
              </a:rPr>
              <a:t>Decision-support focus: help claims managers prioritize reviews and allocate resources.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2A60F1-8142-0202-53BD-E3B18E1D9405}"/>
              </a:ext>
            </a:extLst>
          </p:cNvPr>
          <p:cNvSpPr txBox="1"/>
          <p:nvPr/>
        </p:nvSpPr>
        <p:spPr>
          <a:xfrm>
            <a:off x="949816" y="1568804"/>
            <a:ext cx="10789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Finding high-cost claims early helps managers 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 pitchFamily="34" charset="0"/>
              </a:rPr>
              <a:t>review them sooner and set better reserves</a:t>
            </a: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.</a:t>
            </a:r>
            <a:endParaRPr lang="en-US" sz="24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DFCE89-CC85-DA2C-6FA8-C9E08C2D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986" y="350864"/>
            <a:ext cx="827739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248"/>
                </a:solidFill>
              </a:defRPr>
            </a:pPr>
            <a:r>
              <a:rPr sz="4000" u="sng" dirty="0">
                <a:solidFill>
                  <a:srgbClr val="002060"/>
                </a:solidFill>
                <a:latin typeface="Aptos" panose="020B0004020202020204" pitchFamily="34" charset="0"/>
              </a:rPr>
              <a:t>Kaggle Dataset Loaded into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849" y="4052067"/>
            <a:ext cx="8976575" cy="131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sz="2400" dirty="0">
                <a:solidFill>
                  <a:srgbClr val="002060"/>
                </a:solidFill>
                <a:latin typeface="Aptos" panose="020B0004020202020204" pitchFamily="34" charset="0"/>
              </a:rPr>
              <a:t>Loaded and analyzed with pandas and scikit-learn.</a:t>
            </a:r>
            <a:endParaRPr lang="en-US"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sz="2400" dirty="0">
                <a:solidFill>
                  <a:srgbClr val="002060"/>
                </a:solidFill>
                <a:latin typeface="Aptos" panose="020B0004020202020204" pitchFamily="34" charset="0"/>
              </a:rPr>
              <a:t>No duplicate rows and no missing values were found in the initial inspection.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219E3-869F-B026-E907-C6837CE04CEB}"/>
              </a:ext>
            </a:extLst>
          </p:cNvPr>
          <p:cNvSpPr txBox="1"/>
          <p:nvPr/>
        </p:nvSpPr>
        <p:spPr>
          <a:xfrm>
            <a:off x="334849" y="1490188"/>
            <a:ext cx="3766096" cy="30469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defRPr sz="2000" b="1">
                <a:solidFill>
                  <a:srgbClr val="163248"/>
                </a:solidFill>
              </a:defRPr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Source</a:t>
            </a:r>
          </a:p>
          <a:p>
            <a:pPr>
              <a:lnSpc>
                <a:spcPct val="150000"/>
              </a:lnSpc>
              <a:defRPr sz="1600">
                <a:solidFill>
                  <a:srgbClr val="232323"/>
                </a:solidFill>
              </a:defRPr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Kaggle — Allstate Claims Severity</a:t>
            </a:r>
          </a:p>
          <a:p>
            <a:pPr>
              <a:lnSpc>
                <a:spcPct val="150000"/>
              </a:lnSpc>
              <a:defRPr sz="1600">
                <a:solidFill>
                  <a:srgbClr val="232323"/>
                </a:solidFill>
              </a:defRPr>
            </a:pPr>
            <a:endParaRPr lang="en-US"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algn="ctr">
              <a:defRPr sz="1600">
                <a:solidFill>
                  <a:srgbClr val="232323"/>
                </a:solidFill>
              </a:defRPr>
            </a:pPr>
            <a:endParaRPr lang="en-US"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algn="ctr">
              <a:defRPr sz="1600">
                <a:solidFill>
                  <a:srgbClr val="232323"/>
                </a:solidFill>
              </a:defRPr>
            </a:pPr>
            <a:endParaRPr lang="en-US" sz="2400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C812D9-4E72-81F3-940A-7851906B2881}"/>
              </a:ext>
            </a:extLst>
          </p:cNvPr>
          <p:cNvSpPr txBox="1"/>
          <p:nvPr/>
        </p:nvSpPr>
        <p:spPr>
          <a:xfrm>
            <a:off x="8421172" y="1490188"/>
            <a:ext cx="2662464" cy="1701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 b="1">
                <a:solidFill>
                  <a:srgbClr val="163248"/>
                </a:solidFill>
              </a:defRPr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Features</a:t>
            </a:r>
          </a:p>
          <a:p>
            <a:pPr>
              <a:lnSpc>
                <a:spcPct val="150000"/>
              </a:lnSpc>
              <a:defRPr sz="1600">
                <a:solidFill>
                  <a:srgbClr val="232323"/>
                </a:solidFill>
              </a:defRPr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116 categorical</a:t>
            </a:r>
            <a:b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</a:b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14 numerical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A5E041-7E1F-7318-6E28-9EFDA5231619}"/>
              </a:ext>
            </a:extLst>
          </p:cNvPr>
          <p:cNvSpPr txBox="1"/>
          <p:nvPr/>
        </p:nvSpPr>
        <p:spPr>
          <a:xfrm>
            <a:off x="4305301" y="1490188"/>
            <a:ext cx="2843644" cy="1701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 b="1">
                <a:solidFill>
                  <a:srgbClr val="163248"/>
                </a:solidFill>
              </a:defRPr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Dataset</a:t>
            </a:r>
          </a:p>
          <a:p>
            <a:pPr>
              <a:lnSpc>
                <a:spcPct val="150000"/>
              </a:lnSpc>
              <a:defRPr sz="1600">
                <a:solidFill>
                  <a:srgbClr val="232323"/>
                </a:solidFill>
              </a:defRPr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188,318 rows</a:t>
            </a:r>
            <a:b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</a:b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132 columns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E7D97E-EDA2-64A4-EF02-44CC1E73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80128D-FF79-A202-70C9-4DCE79E350AC}"/>
              </a:ext>
            </a:extLst>
          </p:cNvPr>
          <p:cNvSpPr txBox="1"/>
          <p:nvPr/>
        </p:nvSpPr>
        <p:spPr>
          <a:xfrm>
            <a:off x="309527" y="0"/>
            <a:ext cx="11743928" cy="9099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700" b="1">
                <a:solidFill>
                  <a:srgbClr val="163248"/>
                </a:solidFill>
              </a:defRPr>
            </a:pPr>
            <a:r>
              <a:rPr lang="en-US" sz="3200" u="sng" kern="1200" cap="all" baseline="0" dirty="0">
                <a:solidFill>
                  <a:srgbClr val="002060"/>
                </a:solidFill>
                <a:latin typeface="Aptos" panose="020B0004020202020204" pitchFamily="34" charset="0"/>
                <a:ea typeface="+mj-ea"/>
                <a:cs typeface="+mj-cs"/>
              </a:rPr>
              <a:t>Data-Fit Evaluation: Fit, Provenance, Limits, Feasibility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2047A-F7CC-596C-5F68-9400E95039DB}"/>
              </a:ext>
            </a:extLst>
          </p:cNvPr>
          <p:cNvSpPr txBox="1"/>
          <p:nvPr/>
        </p:nvSpPr>
        <p:spPr>
          <a:xfrm>
            <a:off x="469165" y="1048467"/>
            <a:ext cx="10226544" cy="50737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defRPr sz="1800" b="1">
                <a:solidFill>
                  <a:srgbClr val="163248"/>
                </a:solidFill>
              </a:defRPr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Fit</a:t>
            </a:r>
          </a:p>
          <a:p>
            <a:pPr marL="2286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rgbClr val="232323"/>
                </a:solidFill>
              </a:defRPr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Loss is a dollar amount, so regression is used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800" b="1">
                <a:solidFill>
                  <a:srgbClr val="163248"/>
                </a:solidFill>
              </a:defRPr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Provenance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rgbClr val="232323"/>
                </a:solidFill>
              </a:defRPr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Allstate Claims Severity competition data from Kaggle.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800" b="1">
                <a:solidFill>
                  <a:srgbClr val="163248"/>
                </a:solidFill>
              </a:defRPr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Limits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rgbClr val="232323"/>
                </a:solidFill>
              </a:defRPr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Anonymized predictors, skewed target, limited claim context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800" b="1">
                <a:solidFill>
                  <a:srgbClr val="163248"/>
                </a:solidFill>
              </a:defRPr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Feasibility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rgbClr val="232323"/>
                </a:solidFill>
              </a:defRPr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188K+ rows support training, testing, tuning, and visuals.</a:t>
            </a: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rgbClr val="232323"/>
                </a:solidFill>
              </a:defRPr>
            </a:pPr>
            <a:endParaRPr lang="en-US" sz="22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rgbClr val="232323"/>
                </a:solidFill>
              </a:defRPr>
            </a:pPr>
            <a:endParaRPr lang="en-US" sz="2200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D807B-57BF-C50E-4606-F337B860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17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617553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248"/>
                </a:solidFill>
              </a:defRPr>
            </a:pPr>
            <a:r>
              <a:rPr lang="en-US" sz="4000" u="sng" dirty="0">
                <a:solidFill>
                  <a:srgbClr val="002060"/>
                </a:solidFill>
                <a:latin typeface="Aptos" panose="020B0004020202020204" pitchFamily="34" charset="0"/>
              </a:rPr>
              <a:t>Three Dataset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325880"/>
            <a:ext cx="10981113" cy="3885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Anonymized features such as cat1 and cont1 limit business interpretation.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Claim loss is strongly right-skewed: most claims are small while a few are very expensive.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The dataset does not include claim dates, policy details, or external factors.</a:t>
            </a:r>
          </a:p>
          <a:p>
            <a:pPr>
              <a:spcAft>
                <a:spcPts val="900"/>
              </a:spcAft>
              <a:defRPr sz="2000">
                <a:solidFill>
                  <a:srgbClr val="232323"/>
                </a:solidFill>
              </a:defRPr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Therefore, the model should support—not replace—claims professionals.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FD6472-6FE3-2BDE-3487-737D2FB9E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01752"/>
            <a:ext cx="838280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248"/>
                </a:solidFill>
              </a:defRPr>
            </a:pPr>
            <a:r>
              <a:rPr sz="4000" u="sng" dirty="0">
                <a:solidFill>
                  <a:srgbClr val="002060"/>
                </a:solidFill>
                <a:latin typeface="Aptos" panose="020B0004020202020204" pitchFamily="34" charset="0"/>
              </a:rPr>
              <a:t>EDA: Most Claims Are Below $5,000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7300" y="6419088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rPr>
                <a:solidFill>
                  <a:srgbClr val="002060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11921" y="2171700"/>
            <a:ext cx="4140558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rPr lang="en-US" sz="2300" b="1" dirty="0">
                <a:solidFill>
                  <a:srgbClr val="002060"/>
                </a:solidFill>
                <a:latin typeface="Aptos" panose="020B0004020202020204" pitchFamily="34" charset="0"/>
              </a:rPr>
              <a:t>Most claims (83.59%) cost less than $5,000..</a:t>
            </a:r>
            <a:br>
              <a:rPr lang="en-US" sz="2400" b="1" dirty="0">
                <a:solidFill>
                  <a:srgbClr val="002060"/>
                </a:solidFill>
                <a:latin typeface="Aptos" panose="020B0004020202020204" pitchFamily="34" charset="0"/>
              </a:rPr>
            </a:br>
            <a:r>
              <a:rPr lang="en-US" sz="2400" b="1" dirty="0">
                <a:solidFill>
                  <a:srgbClr val="002060"/>
                </a:solidFill>
                <a:latin typeface="Aptos" panose="020B0004020202020204" pitchFamily="34" charset="0"/>
              </a:rPr>
              <a:t>• </a:t>
            </a:r>
            <a:r>
              <a:rPr lang="en-US" sz="2300" b="1" dirty="0">
                <a:solidFill>
                  <a:srgbClr val="002060"/>
                </a:solidFill>
                <a:latin typeface="Aptos" panose="020B0004020202020204" pitchFamily="34" charset="0"/>
              </a:rPr>
              <a:t>Only 23 out of 188,318 claims cost more than $40,000.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rPr lang="en-US" sz="2400" b="1" dirty="0">
                <a:solidFill>
                  <a:srgbClr val="002060"/>
                </a:solidFill>
                <a:latin typeface="Aptos" panose="020B0004020202020204" pitchFamily="34" charset="0"/>
              </a:rPr>
              <a:t>• </a:t>
            </a:r>
            <a:r>
              <a:rPr lang="en-US" sz="2300" b="1" dirty="0">
                <a:solidFill>
                  <a:srgbClr val="002060"/>
                </a:solidFill>
                <a:latin typeface="Aptos" panose="020B0004020202020204" pitchFamily="34" charset="0"/>
              </a:rPr>
              <a:t>A few expensive claims can cause a big financial loss</a:t>
            </a:r>
            <a:endParaRPr sz="23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F2AB21-6745-327F-33EB-D391E8DB2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21" y="1606796"/>
            <a:ext cx="7772400" cy="3801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75563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248"/>
                </a:solidFill>
              </a:defRPr>
            </a:pPr>
            <a:r>
              <a:rPr sz="3200" u="sng" dirty="0">
                <a:solidFill>
                  <a:srgbClr val="002060"/>
                </a:solidFill>
                <a:latin typeface="Aptos" panose="020B0004020202020204" pitchFamily="34" charset="0"/>
              </a:rPr>
              <a:t>Business Insight: Prioritize Rare High-Cost Claims Earlier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7300" y="6419088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rPr dirty="0">
                <a:solidFill>
                  <a:srgbClr val="002060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4FF24E-C087-06C5-D953-51FC51970DEE}"/>
              </a:ext>
            </a:extLst>
          </p:cNvPr>
          <p:cNvSpPr txBox="1"/>
          <p:nvPr/>
        </p:nvSpPr>
        <p:spPr>
          <a:xfrm>
            <a:off x="914399" y="1240304"/>
            <a:ext cx="1043559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Business Insight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Claims managers should </a:t>
            </a:r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review the top 5% of claims early before setting reserves</a:t>
            </a:r>
            <a:endParaRPr lang="en-US" sz="2800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C874F1-10DE-50A5-47BF-9697D5502842}"/>
              </a:ext>
            </a:extLst>
          </p:cNvPr>
          <p:cNvSpPr txBox="1"/>
          <p:nvPr/>
        </p:nvSpPr>
        <p:spPr>
          <a:xfrm>
            <a:off x="914398" y="3310545"/>
            <a:ext cx="1075563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Use model scores to </a:t>
            </a:r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rank claims early</a:t>
            </a:r>
            <a:endParaRPr lang="en-US" sz="28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Send the </a:t>
            </a:r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top 5% of claims</a:t>
            </a: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 for early review.</a:t>
            </a:r>
          </a:p>
          <a:p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Use </a:t>
            </a:r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5% as a starting point</a:t>
            </a:r>
            <a:r>
              <a:rPr lang="en-US" sz="2800" dirty="0">
                <a:solidFill>
                  <a:srgbClr val="002060"/>
                </a:solidFill>
                <a:latin typeface="Aptos" panose="020B0004020202020204" pitchFamily="34" charset="0"/>
              </a:rPr>
              <a:t> and test how well it finds high-cost claims before full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10911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u="sng" dirty="0">
                <a:solidFill>
                  <a:srgbClr val="002060"/>
                </a:solidFill>
                <a:latin typeface="Aptos" panose="020B0004020202020204" pitchFamily="34" charset="0"/>
              </a:rPr>
              <a:t>Random Forest Led Initially; Tuned Gradient Boosting Finished Best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7300" y="6419088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rPr>
                <a:solidFill>
                  <a:srgbClr val="002060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5262" y="1614489"/>
            <a:ext cx="4224337" cy="4224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</a:defRPr>
            </a:pPr>
            <a:r>
              <a:rPr sz="2000" b="1" dirty="0">
                <a:solidFill>
                  <a:srgbClr val="002060"/>
                </a:solidFill>
                <a:latin typeface="Aptos" panose="020B0004020202020204" pitchFamily="34" charset="0"/>
              </a:rPr>
              <a:t>• Linear Regression: RMSE $2,016.61; R² 0.5016.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</a:defRPr>
            </a:pPr>
            <a:r>
              <a:rPr sz="2000" b="1" dirty="0">
                <a:solidFill>
                  <a:srgbClr val="002060"/>
                </a:solidFill>
                <a:latin typeface="Aptos" panose="020B0004020202020204" pitchFamily="34" charset="0"/>
              </a:rPr>
              <a:t>• Random Forest: RMSE $1,903.31; R² 0.5560.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</a:defRPr>
            </a:pPr>
            <a:r>
              <a:rPr sz="2000" b="1" dirty="0">
                <a:solidFill>
                  <a:srgbClr val="002060"/>
                </a:solidFill>
                <a:latin typeface="Aptos" panose="020B0004020202020204" pitchFamily="34" charset="0"/>
              </a:rPr>
              <a:t>• Gradient Boosting: RMSE $1,945.67; R² 0.5361.</a:t>
            </a:r>
          </a:p>
          <a:p>
            <a:r>
              <a:rPr sz="2000" b="1" dirty="0">
                <a:solidFill>
                  <a:srgbClr val="002060"/>
                </a:solidFill>
                <a:latin typeface="Aptos" panose="020B0004020202020204" pitchFamily="34" charset="0"/>
              </a:rPr>
              <a:t>• 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Random Forest performed best at first, then Gradient Boosting was tuned.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</a:defRPr>
            </a:pP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</a:defRPr>
            </a:pP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</a:defRPr>
            </a:pPr>
            <a:endParaRPr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DFEA97-EAE6-4778-D9D3-8639B601C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07847"/>
            <a:ext cx="7772400" cy="42372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992906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u="sng" dirty="0">
                <a:solidFill>
                  <a:srgbClr val="002060"/>
                </a:solidFill>
                <a:latin typeface="Aptos" panose="020B0004020202020204" pitchFamily="34" charset="0"/>
              </a:rPr>
              <a:t>Tuned Gradient Boosting Improved Overall Error, but Extreme Claims Remain Harder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7300" y="6419088"/>
            <a:ext cx="24558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rPr>
                <a:solidFill>
                  <a:srgbClr val="002060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67208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002060"/>
                </a:solidFill>
                <a:latin typeface="Aptos" panose="020B0004020202020204" pitchFamily="34" charset="0"/>
              </a:rPr>
              <a:t>• Tuned Gradient Boosting achieved the lowest final RMSE among the evaluated models.</a:t>
            </a:r>
          </a:p>
          <a:p>
            <a:r>
              <a:rPr sz="2400" dirty="0">
                <a:solidFill>
                  <a:srgbClr val="002060"/>
                </a:solidFill>
                <a:latin typeface="Aptos" panose="020B0004020202020204" pitchFamily="34" charset="0"/>
              </a:rPr>
              <a:t>• High-cost tail errors remain visible, so exact pricing of extreme claims is still difficult.</a:t>
            </a:r>
          </a:p>
          <a:p>
            <a:r>
              <a:rPr sz="2400" dirty="0">
                <a:solidFill>
                  <a:srgbClr val="002060"/>
                </a:solidFill>
                <a:latin typeface="Aptos" panose="020B0004020202020204" pitchFamily="34" charset="0"/>
              </a:rPr>
              <a:t>• </a:t>
            </a: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Use the model to 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 pitchFamily="34" charset="0"/>
              </a:rPr>
              <a:t>rank claims</a:t>
            </a: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 and test how many 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 pitchFamily="34" charset="0"/>
              </a:rPr>
              <a:t>$40,000+ claims</a:t>
            </a: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 are in the 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 pitchFamily="34" charset="0"/>
              </a:rPr>
              <a:t>top 5%</a:t>
            </a: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 before full use.</a:t>
            </a:r>
            <a:r>
              <a:rPr sz="2400" dirty="0">
                <a:solidFill>
                  <a:srgbClr val="002060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EA3EC1-2212-F3A1-8D17-3B0C4EEF87E7}"/>
              </a:ext>
            </a:extLst>
          </p:cNvPr>
          <p:cNvSpPr txBox="1"/>
          <p:nvPr/>
        </p:nvSpPr>
        <p:spPr>
          <a:xfrm>
            <a:off x="856210" y="1228865"/>
            <a:ext cx="17761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63248"/>
                </a:solidFill>
              </a:defRPr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RMSE</a:t>
            </a:r>
          </a:p>
          <a:p>
            <a:pPr algn="ctr"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$1,884.82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AFF58D-3759-A7A2-DAF0-532C4EE81661}"/>
              </a:ext>
            </a:extLst>
          </p:cNvPr>
          <p:cNvSpPr txBox="1"/>
          <p:nvPr/>
        </p:nvSpPr>
        <p:spPr>
          <a:xfrm>
            <a:off x="2844508" y="1228864"/>
            <a:ext cx="18106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63248"/>
                </a:solidFill>
              </a:defRPr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MAE</a:t>
            </a:r>
          </a:p>
          <a:p>
            <a:pPr algn="ctr"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$1,218.61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FAF32F-0351-FCD7-1C11-BA82E3FA9D09}"/>
              </a:ext>
            </a:extLst>
          </p:cNvPr>
          <p:cNvSpPr txBox="1"/>
          <p:nvPr/>
        </p:nvSpPr>
        <p:spPr>
          <a:xfrm>
            <a:off x="4655127" y="1228863"/>
            <a:ext cx="21574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63248"/>
                </a:solidFill>
              </a:defRPr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R²</a:t>
            </a:r>
          </a:p>
          <a:p>
            <a:pPr algn="ctr"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0.5646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0D844B-8E1C-9627-598F-AB4AD714F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493" y="1025664"/>
            <a:ext cx="4919261" cy="48479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587487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248"/>
                </a:solidFill>
              </a:defRPr>
            </a:pPr>
            <a:r>
              <a:rPr sz="4000" u="sng" dirty="0">
                <a:solidFill>
                  <a:srgbClr val="002060"/>
                </a:solidFill>
                <a:latin typeface="Aptos" panose="020B0004020202020204" pitchFamily="34" charset="0"/>
              </a:rPr>
              <a:t>Visualization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9974" y="6419088"/>
            <a:ext cx="31290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rPr>
                <a:solidFill>
                  <a:srgbClr val="002060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417320"/>
            <a:ext cx="352818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</a:defRPr>
            </a:pPr>
            <a:r>
              <a:rPr sz="2000" dirty="0">
                <a:solidFill>
                  <a:srgbClr val="002060"/>
                </a:solidFill>
                <a:latin typeface="Aptos" panose="020B0004020202020204" pitchFamily="34" charset="0"/>
              </a:rPr>
              <a:t>• Claim-cost distribution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</a:defRPr>
            </a:pPr>
            <a:r>
              <a:rPr sz="2000" dirty="0">
                <a:solidFill>
                  <a:srgbClr val="002060"/>
                </a:solidFill>
                <a:latin typeface="Aptos" panose="020B0004020202020204" pitchFamily="34" charset="0"/>
              </a:rPr>
              <a:t>• Claims by cost range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</a:defRPr>
            </a:pPr>
            <a:r>
              <a:rPr sz="2000" dirty="0">
                <a:solidFill>
                  <a:srgbClr val="002060"/>
                </a:solidFill>
                <a:latin typeface="Aptos" panose="020B0004020202020204" pitchFamily="34" charset="0"/>
              </a:rPr>
              <a:t>• Final model RMSE comparison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</a:defRPr>
            </a:pPr>
            <a:r>
              <a:rPr sz="2000" dirty="0">
                <a:solidFill>
                  <a:srgbClr val="002060"/>
                </a:solidFill>
                <a:latin typeface="Aptos" panose="020B0004020202020204" pitchFamily="34" charset="0"/>
              </a:rPr>
              <a:t>• Actual vs. predicted claim costs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</a:defRPr>
            </a:pPr>
            <a:r>
              <a:rPr sz="2000" dirty="0">
                <a:solidFill>
                  <a:srgbClr val="002060"/>
                </a:solidFill>
                <a:latin typeface="Aptos" panose="020B0004020202020204" pitchFamily="34" charset="0"/>
              </a:rPr>
              <a:t>• Dashboard connects technical results to business decisions.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09E872-2B46-9E8D-38A7-321A92292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8" y="1034758"/>
            <a:ext cx="8101281" cy="56151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937346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248"/>
                </a:solidFill>
              </a:defRPr>
            </a:pPr>
            <a:r>
              <a:rPr sz="4000" u="sng" dirty="0">
                <a:solidFill>
                  <a:srgbClr val="002060"/>
                </a:solidFill>
                <a:latin typeface="Aptos" panose="020B0004020202020204" pitchFamily="34" charset="0"/>
              </a:rPr>
              <a:t>Final Recommendation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9974" y="6419088"/>
            <a:ext cx="31290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rPr>
                <a:solidFill>
                  <a:srgbClr val="002060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855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002060"/>
                </a:solidFill>
                <a:latin typeface="Aptos" panose="020B0004020202020204" pitchFamily="34" charset="0"/>
              </a:rPr>
              <a:t>• </a:t>
            </a: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Use the top 5% as a starting point and test how many $40,000+ claims it finds before full use.</a:t>
            </a:r>
            <a:endParaRPr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r>
              <a:rPr sz="2400" dirty="0">
                <a:solidFill>
                  <a:srgbClr val="002060"/>
                </a:solidFill>
                <a:latin typeface="Aptos" panose="020B0004020202020204" pitchFamily="34" charset="0"/>
              </a:rPr>
              <a:t>• Final test performance: RMSE $1,884.82, MAE $1,218.61, and R² 0.5646.</a:t>
            </a:r>
          </a:p>
          <a:p>
            <a:r>
              <a:rPr sz="2400" dirty="0">
                <a:solidFill>
                  <a:srgbClr val="002060"/>
                </a:solidFill>
                <a:latin typeface="Aptos" panose="020B0004020202020204" pitchFamily="34" charset="0"/>
              </a:rPr>
              <a:t>• Limit: </a:t>
            </a: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High-cost claims are harder to predict, so use the model to prioritize claims, not automatically set reserves.</a:t>
            </a:r>
            <a:endParaRPr sz="2400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EB5A4-588B-FB32-FF8B-75B60A6B39C3}"/>
              </a:ext>
            </a:extLst>
          </p:cNvPr>
          <p:cNvSpPr txBox="1"/>
          <p:nvPr/>
        </p:nvSpPr>
        <p:spPr>
          <a:xfrm>
            <a:off x="914398" y="1186382"/>
            <a:ext cx="101553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rgbClr val="002060"/>
                </a:solidFill>
                <a:latin typeface="Aptos" panose="020B0004020202020204" pitchFamily="34" charset="0"/>
              </a:rPr>
              <a:t>Recommendation</a:t>
            </a:r>
          </a:p>
          <a:p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Insurance executives should test the Gradient Boosting model and send the top 5% of claims to experienced adjusters for early review before setting reserves.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96006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248"/>
                </a:solidFill>
              </a:defRPr>
            </a:pPr>
            <a:r>
              <a:rPr sz="4000" u="sng" dirty="0">
                <a:solidFill>
                  <a:srgbClr val="002060"/>
                </a:solidFill>
                <a:latin typeface="Aptos" panose="020B0004020202020204" pitchFamily="34" charset="0"/>
              </a:rPr>
              <a:t>References / 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06386" y="6419088"/>
            <a:ext cx="30649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rPr>
                <a:solidFill>
                  <a:srgbClr val="002060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114044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rPr sz="2400" dirty="0">
                <a:solidFill>
                  <a:srgbClr val="002060"/>
                </a:solidFill>
                <a:latin typeface="Aptos" panose="020B0004020202020204" pitchFamily="34" charset="0"/>
              </a:rPr>
              <a:t>• Kaggle — Allstate Claims Severity training dataset.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rPr sz="2400" dirty="0">
                <a:solidFill>
                  <a:srgbClr val="002060"/>
                </a:solidFill>
                <a:latin typeface="Aptos" panose="020B0004020202020204" pitchFamily="34" charset="0"/>
              </a:rPr>
              <a:t>• Python: pandas, NumPy, Matplotlib, and scikit-learn.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rPr sz="2400" dirty="0">
                <a:solidFill>
                  <a:srgbClr val="002060"/>
                </a:solidFill>
                <a:latin typeface="Aptos" panose="020B0004020202020204" pitchFamily="34" charset="0"/>
              </a:rPr>
              <a:t>• Completed deliverables: data-fit evaluation, data cleaning, EDA, business insight, analysis plan, regression models, model tuning, final evaluation, dashboard, final report, and presentation.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</a:defRPr>
            </a:pPr>
            <a:r>
              <a:rPr sz="2400" dirty="0">
                <a:solidFill>
                  <a:srgbClr val="002060"/>
                </a:solidFill>
                <a:latin typeface="Aptos" panose="020B0004020202020204" pitchFamily="34" charset="0"/>
              </a:rPr>
              <a:t>• Technical notebook: Allstate Claims Complete Project.</a:t>
            </a:r>
          </a:p>
          <a:p>
            <a:r>
              <a:rPr sz="2400" dirty="0">
                <a:solidFill>
                  <a:srgbClr val="002060"/>
                </a:solidFill>
                <a:latin typeface="Aptos" panose="020B0004020202020204" pitchFamily="34" charset="0"/>
              </a:rPr>
              <a:t>• Detailed cleaning, preprocessing, tuning, and model-selection steps are documented in the technical notebook/repository.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881633-368C-C058-4B86-A6BDDEB8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3A0F-8C49-3C4C-8193-D5FE7F9709B0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BDBD16-B888-30DD-D5DF-CA697A0EE6F4}"/>
              </a:ext>
            </a:extLst>
          </p:cNvPr>
          <p:cNvSpPr txBox="1"/>
          <p:nvPr/>
        </p:nvSpPr>
        <p:spPr>
          <a:xfrm>
            <a:off x="2905125" y="161877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002060"/>
                </a:solidFill>
                <a:latin typeface="Aptos" panose="020B0004020202020204" pitchFamily="34" charset="0"/>
              </a:rPr>
              <a:t>Thank you 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6516E-5499-C2AC-5CFC-AB36F5D9FDE9}"/>
              </a:ext>
            </a:extLst>
          </p:cNvPr>
          <p:cNvSpPr txBox="1"/>
          <p:nvPr/>
        </p:nvSpPr>
        <p:spPr>
          <a:xfrm>
            <a:off x="214312" y="2728913"/>
            <a:ext cx="119776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ptos" panose="020B0004020202020204" pitchFamily="34" charset="0"/>
              </a:rPr>
              <a:t>Most important numbers to remember for Q&amp;A: 188,318 claims → 83.59% below $5,000 → only 23 above $40,000 → final RMSE $1,884.82 → MAE $1,218.61 → R² 0.5646 → The top 5% is a starting point for testing, not the final proven number..</a:t>
            </a:r>
          </a:p>
        </p:txBody>
      </p:sp>
    </p:spTree>
    <p:extLst>
      <p:ext uri="{BB962C8B-B14F-4D97-AF65-F5344CB8AC3E}">
        <p14:creationId xmlns:p14="http://schemas.microsoft.com/office/powerpoint/2010/main" val="1968329821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3200</TotalTime>
  <Words>828</Words>
  <Application>Microsoft Macintosh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Neue Haas Grotesk Text Pro</vt:lpstr>
      <vt:lpstr>System Font Regular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Ghatani, Prakash</dc:creator>
  <cp:lastModifiedBy>Ghatani, Prakash</cp:lastModifiedBy>
  <cp:revision>17</cp:revision>
  <dcterms:created xsi:type="dcterms:W3CDTF">2026-08-15T13:43:31Z</dcterms:created>
  <dcterms:modified xsi:type="dcterms:W3CDTF">2026-08-21T23:31:21Z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de1d5b-8b4b-4e4e-a8a1-d2976158103f_Enabled">
    <vt:lpwstr>true</vt:lpwstr>
  </property>
  <property fmtid="{D5CDD505-2E9C-101B-9397-08002B2CF9AE}" pid="3" name="MSIP_Label_a6de1d5b-8b4b-4e4e-a8a1-d2976158103f_SetDate">
    <vt:lpwstr>2026-08-15T13:50:59Z</vt:lpwstr>
  </property>
  <property fmtid="{D5CDD505-2E9C-101B-9397-08002B2CF9AE}" pid="4" name="MSIP_Label_a6de1d5b-8b4b-4e4e-a8a1-d2976158103f_Method">
    <vt:lpwstr>Standard</vt:lpwstr>
  </property>
  <property fmtid="{D5CDD505-2E9C-101B-9397-08002B2CF9AE}" pid="5" name="MSIP_Label_a6de1d5b-8b4b-4e4e-a8a1-d2976158103f_Name">
    <vt:lpwstr>defa4170-0d19-0005-0004-bc88714345d2</vt:lpwstr>
  </property>
  <property fmtid="{D5CDD505-2E9C-101B-9397-08002B2CF9AE}" pid="6" name="MSIP_Label_a6de1d5b-8b4b-4e4e-a8a1-d2976158103f_SiteId">
    <vt:lpwstr>ecd4c5d9-c2fe-4522-afd1-f0d20755d9d7</vt:lpwstr>
  </property>
  <property fmtid="{D5CDD505-2E9C-101B-9397-08002B2CF9AE}" pid="7" name="MSIP_Label_a6de1d5b-8b4b-4e4e-a8a1-d2976158103f_ActionId">
    <vt:lpwstr>e72de663-a707-4933-9c50-bd4c3f04c2ac</vt:lpwstr>
  </property>
  <property fmtid="{D5CDD505-2E9C-101B-9397-08002B2CF9AE}" pid="8" name="MSIP_Label_a6de1d5b-8b4b-4e4e-a8a1-d2976158103f_ContentBits">
    <vt:lpwstr>0</vt:lpwstr>
  </property>
  <property fmtid="{D5CDD505-2E9C-101B-9397-08002B2CF9AE}" pid="9" name="MSIP_Label_a6de1d5b-8b4b-4e4e-a8a1-d2976158103f_Tag">
    <vt:lpwstr>50, 3, 0, 1</vt:lpwstr>
  </property>
</Properties>
</file>